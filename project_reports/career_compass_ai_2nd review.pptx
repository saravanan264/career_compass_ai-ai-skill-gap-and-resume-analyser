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ibre Baskerville" panose="020B0604020202020204" charset="0"/>
      <p:regular r:id="rId20"/>
    </p:embeddedFont>
    <p:embeddedFont>
      <p:font typeface="Open Sans Bold" panose="020B0604020202020204" charset="0"/>
      <p:regular r:id="rId21"/>
    </p:embeddedFont>
    <p:embeddedFont>
      <p:font typeface="Open Sans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6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87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704" y="1107943"/>
            <a:ext cx="7532286" cy="101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Career Compass </a:t>
            </a:r>
            <a:r>
              <a:rPr lang="en-US" sz="2000" dirty="0" smtClean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- </a:t>
            </a:r>
            <a:r>
              <a:rPr lang="en-US" sz="20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AI powered </a:t>
            </a:r>
            <a:r>
              <a:rPr lang="en-US" sz="2000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employability </a:t>
            </a:r>
            <a:endParaRPr lang="en-US" sz="2000" dirty="0" smtClean="0">
              <a:solidFill>
                <a:srgbClr val="49495A"/>
              </a:solidFill>
              <a:latin typeface="Times New Roman" panose="02020603050405020304" pitchFamily="18" charset="0"/>
              <a:ea typeface="Open Sans Bold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4000"/>
              </a:lnSpc>
            </a:pPr>
            <a:r>
              <a:rPr lang="en-US" sz="20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assessment </a:t>
            </a:r>
            <a:r>
              <a:rPr lang="en-US" sz="2000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and career readiness platform Using Resume</a:t>
            </a:r>
          </a:p>
          <a:p>
            <a:pPr algn="ctr">
              <a:lnSpc>
                <a:spcPct val="104000"/>
              </a:lnSpc>
            </a:pPr>
            <a:r>
              <a:rPr lang="en-US" sz="2000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Analysis and Skill Gap Assessment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dirty="0" smtClean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56682" y="3457029"/>
            <a:ext cx="6550966" cy="461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Department of Artificial Intelligence and Data Science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1191" y="3918501"/>
            <a:ext cx="3270974" cy="881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P.S.R Engineering College, Sivakasi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Academic Year: 2026–2027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38121" y="3461719"/>
            <a:ext cx="173888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Presented By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6310" y="3756994"/>
            <a:ext cx="3492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Saravanan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 (23AD045) – IV 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Mathan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 (23AD024) – IV 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Logesh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 (23AD023) – IV 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 err="1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Kavutham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 (23AD017) – IV year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6310" y="5308973"/>
            <a:ext cx="40596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Project Guide: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Mrs.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V. Devi </a:t>
            </a:r>
            <a:r>
              <a:rPr lang="en-US" sz="1600" dirty="0" err="1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Nandhini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Mam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089178" y="6568493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852" y="219169"/>
            <a:ext cx="60136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Domain &amp; Technology Stack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2483" y="995094"/>
            <a:ext cx="1880237" cy="28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600" dirty="0" smtClean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Primary Domain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96000"/>
              </a:lnSpc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5852" y="1543765"/>
            <a:ext cx="4053900" cy="462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Artificial Intelligence &amp; Data Science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8335" y="4301710"/>
            <a:ext cx="3044100" cy="32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Natural Language Processing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94015" y="4559980"/>
            <a:ext cx="2813275" cy="329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and job description analysis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48097" y="4300663"/>
            <a:ext cx="2229584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Machine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84031" y="4578235"/>
            <a:ext cx="2390914" cy="29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Matching and candidate scoring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368335" y="5161508"/>
            <a:ext cx="3144887" cy="288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Recommendation Systems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4015" y="5452750"/>
            <a:ext cx="2674723" cy="28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and learning recommendations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354521" y="5178978"/>
            <a:ext cx="1849951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Data Analytics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684031" y="5452750"/>
            <a:ext cx="2778224" cy="30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Performance and readiness tracking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344825" y="2736611"/>
            <a:ext cx="130744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Frontend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57351" y="2998147"/>
            <a:ext cx="60517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React.js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2179784" y="2711931"/>
            <a:ext cx="120965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Backend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2452927" y="3005474"/>
            <a:ext cx="124537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Python, FastAPI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668033" y="2692439"/>
            <a:ext cx="124516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Database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888708" y="3007230"/>
            <a:ext cx="912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PostgreSQL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6682330" y="2692439"/>
            <a:ext cx="7816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NLP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991768" y="2998147"/>
            <a:ext cx="156554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spaCy, Transformers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9373843" y="2692439"/>
            <a:ext cx="1294643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55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Analytics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9747718" y="2986359"/>
            <a:ext cx="54689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Python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3990" y="2146905"/>
            <a:ext cx="2306521" cy="565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6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lnSpc>
                <a:spcPct val="96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8335" y="3692333"/>
            <a:ext cx="18694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Sub-Domains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509" y="134735"/>
            <a:ext cx="1955601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 2"/>
          <p:cNvSpPr/>
          <p:nvPr/>
        </p:nvSpPr>
        <p:spPr>
          <a:xfrm>
            <a:off x="188509" y="1024618"/>
            <a:ext cx="2438313" cy="27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 3"/>
          <p:cNvSpPr/>
          <p:nvPr/>
        </p:nvSpPr>
        <p:spPr>
          <a:xfrm>
            <a:off x="188509" y="1437054"/>
            <a:ext cx="11957645" cy="675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Students often apply for jobs without knowing whether their skills and resume fit specific roles. Existing systems mainly focus on parsing and keyword matching, </a:t>
            </a:r>
            <a:r>
              <a:rPr lang="en-US" sz="16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without evaluating actual competency.</a:t>
            </a:r>
            <a:endParaRPr lang="en-US" sz="1600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7059" y="2385577"/>
            <a:ext cx="2458907" cy="283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8" name="Text 6"/>
          <p:cNvSpPr/>
          <p:nvPr/>
        </p:nvSpPr>
        <p:spPr>
          <a:xfrm>
            <a:off x="203888" y="3026218"/>
            <a:ext cx="11957645" cy="191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Career Compass AI analyzes a student's resume against selected job roles or job descriptions. It evaluates resume quality, ATS compatibility, job match, missing skills, and improvement areas.</a:t>
            </a:r>
            <a:endParaRPr lang="en-US" sz="1400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The platform also recommends projects, conducts role-specific mock assessments, tracks skill growth, and generates a personalized learning roadmap</a:t>
            </a:r>
            <a:r>
              <a:rPr lang="en-US" sz="14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31000"/>
              </a:lnSpc>
            </a:pPr>
            <a:endParaRPr lang="en-US" sz="1400" dirty="0" smtClean="0">
              <a:solidFill>
                <a:srgbClr val="000000"/>
              </a:solidFill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  <a:p>
            <a:pPr>
              <a:lnSpc>
                <a:spcPct val="131000"/>
              </a:lnSpc>
            </a:pPr>
            <a:r>
              <a:rPr lang="en-US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The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system guides candidates toward job readiness</a:t>
            </a:r>
            <a:r>
              <a:rPr lang="en-US" sz="1400" dirty="0" smtClean="0">
                <a:solidFill>
                  <a:srgbClr val="000000"/>
                </a:solidFill>
                <a:latin typeface="Times New Roman" panose="02020603050405020304" pitchFamily="18" charset="0"/>
                <a:ea typeface="Open Sans" panose="020B0604020202020204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88" y="2435930"/>
            <a:ext cx="228793" cy="18305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ea typeface="Open Sans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1376"/>
            <a:ext cx="441760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Project Objectives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295632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91328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48702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5848" y="1693763"/>
            <a:ext cx="11814" cy="44390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6967" y="1811536"/>
            <a:ext cx="23318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1. Resume Analysis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6832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Analyze resume structure, skills, education, projects, and experience.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88029" y="1819870"/>
            <a:ext cx="155918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2. Job Match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88029" y="2228552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 the candidate profile with selected job roles or descriptions.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6832" y="3079254"/>
            <a:ext cx="31499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3. Skill Gap Identification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6832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Identify matching, missing, and weak skills.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88029" y="3079254"/>
            <a:ext cx="3487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4. Career Recommendations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8029" y="348793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Recommend suitable job roles, companies, and projects.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6832" y="4036219"/>
            <a:ext cx="24350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5. Mock Assessment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6832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 role-specific assessments.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88029" y="4036219"/>
            <a:ext cx="20496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6. Skill Analytics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88029" y="444490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Track improvement across assessment attempts.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6832" y="4993184"/>
            <a:ext cx="30750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7. Personalized Roadmap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56832" y="5401866"/>
            <a:ext cx="504683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 a learning roadmap based on performance and gaps.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88029" y="4993184"/>
            <a:ext cx="22657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8. Readiness Score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88029" y="5401866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Provide a job-specific employability score.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056394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592" y="321320"/>
            <a:ext cx="3503201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Literature Survey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5592" y="1044376"/>
            <a:ext cx="11800562" cy="645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Five foundational papers shaped this work, which extends prior systems with ATS scoring, job matching, skill-gap analysis, project recommendations, and skill improvement tracking.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1475" y="1903214"/>
            <a:ext cx="10868745" cy="3467497"/>
          </a:xfrm>
          <a:prstGeom prst="roundRect">
            <a:avLst>
              <a:gd name="adj" fmla="val 66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297708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911673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25639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39605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753570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924" y="1909564"/>
            <a:ext cx="3799586" cy="388144"/>
          </a:xfrm>
          <a:custGeom>
            <a:avLst/>
            <a:gdLst/>
            <a:ahLst/>
            <a:cxnLst/>
            <a:rect l="l" t="t" r="r" b="b"/>
            <a:pathLst>
              <a:path w="3799586" h="388144">
                <a:moveTo>
                  <a:pt x="19197" y="0"/>
                </a:moveTo>
                <a:lnTo>
                  <a:pt x="3799586" y="0"/>
                </a:lnTo>
                <a:lnTo>
                  <a:pt x="3799586" y="388144"/>
                </a:lnTo>
                <a:lnTo>
                  <a:pt x="0" y="388144"/>
                </a:lnTo>
                <a:lnTo>
                  <a:pt x="0" y="19198"/>
                </a:lnTo>
                <a:arcTo wR="19197" hR="19198" stAng="10800000" swAng="5400000"/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1" name="Text 9"/>
          <p:cNvSpPr/>
          <p:nvPr/>
        </p:nvSpPr>
        <p:spPr>
          <a:xfrm>
            <a:off x="821411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Paper Title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67510" y="1909564"/>
            <a:ext cx="3799586" cy="388144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3" name="Text 11"/>
          <p:cNvSpPr/>
          <p:nvPr/>
        </p:nvSpPr>
        <p:spPr>
          <a:xfrm>
            <a:off x="4620998" y="199072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Main Contribution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67096" y="1909564"/>
            <a:ext cx="3256774" cy="388144"/>
          </a:xfrm>
          <a:custGeom>
            <a:avLst/>
            <a:gdLst/>
            <a:ahLst/>
            <a:cxnLst/>
            <a:rect l="l" t="t" r="r" b="b"/>
            <a:pathLst>
              <a:path w="3256774" h="388144">
                <a:moveTo>
                  <a:pt x="0" y="0"/>
                </a:moveTo>
                <a:lnTo>
                  <a:pt x="3237577" y="0"/>
                </a:lnTo>
                <a:arcTo wR="19197" hR="19198" stAng="16200000" swAng="5400000"/>
                <a:lnTo>
                  <a:pt x="3256774" y="388144"/>
                </a:lnTo>
                <a:lnTo>
                  <a:pt x="0" y="388144"/>
                </a:lnTo>
                <a:lnTo>
                  <a:pt x="0" y="0"/>
                </a:lnTo>
                <a:close/>
              </a:path>
            </a:pathLst>
          </a:custGeom>
          <a:solidFill>
            <a:srgbClr val="E8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8420584" y="199072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Gap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1411" y="2382044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An Intelligent Resume Analysis and Job Recommendation System Using NLP </a:t>
            </a:r>
            <a:r>
              <a:rPr lang="en-US" sz="1200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(2026)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20998" y="2382044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parsing and job recommendation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20584" y="2382044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competency validation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1411" y="2996009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Parsing with Explainable Transformer Models </a:t>
            </a:r>
            <a:r>
              <a:rPr lang="en-US" sz="1200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20998" y="2996009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JD parsing and skill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20584" y="2996009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JD-focused only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411" y="3609975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Smart-Hiring: End-to-End CV Information Extraction and Job Matching </a:t>
            </a:r>
            <a:r>
              <a:rPr lang="en-US" sz="1200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20998" y="3609975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CV extraction and job matching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20584" y="3609975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personalized skill-development cycle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1411" y="4223941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AI-Powered Semantic Resume &amp; Skill-Gap Analyzer </a:t>
            </a:r>
            <a:r>
              <a:rPr lang="en-US" sz="1200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20998" y="4223941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Semantic matching and skill-gap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0584" y="4223941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Limited progress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1411" y="4837906"/>
            <a:ext cx="349261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Analysis Using NLP and ATS Algorithm </a:t>
            </a:r>
            <a:r>
              <a:rPr lang="en-US" sz="1200" i="1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(2025)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20998" y="4837906"/>
            <a:ext cx="41021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ATS scoring and resume evaluation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20584" y="4837906"/>
            <a:ext cx="355938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assessment-driven roadmap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62" y="5692080"/>
            <a:ext cx="191884" cy="153491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160334" y="5674023"/>
            <a:ext cx="10216398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Research Gap: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 Existing systems address resume analysis, job matching, or skill-gap detection separately. An integrated cycle for assessment, tracking, and personalized career development remains limited.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529" y="109240"/>
            <a:ext cx="674516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Summary of Literature Survey</a:t>
            </a:r>
            <a:endParaRPr lang="en-US" sz="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0529" y="1020122"/>
            <a:ext cx="2705181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Existing Research Coverage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1748" y="1769079"/>
            <a:ext cx="223663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Most approaches focus on: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2156991"/>
            <a:ext cx="3333917" cy="1651000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processing and parsing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Resume–job matching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identification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Recommendation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1475" y="5146443"/>
            <a:ext cx="10562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Limitations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5516803"/>
            <a:ext cx="4750326" cy="87679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integrated assessment pipeline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Limited personalized development tracking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Few systems connect analysis to actionable improvement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9088" y="1020122"/>
            <a:ext cx="236081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Our Proposed Contribution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15694" y="1769079"/>
            <a:ext cx="170760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Integrated workflow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15447" y="2160354"/>
            <a:ext cx="4629574" cy="1652186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Autofit/>
          </a:bodyPr>
          <a:lstStyle/>
          <a:p>
            <a:pPr marL="264160" indent="-264160">
              <a:lnSpc>
                <a:spcPct val="12700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processing &amp; Readiness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scoring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description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Resume–job matching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>
              <a:lnSpc>
                <a:spcPct val="127000"/>
              </a:lnSpc>
              <a:buSzPct val="100000"/>
              <a:buFontTx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analysis &amp; Project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Assessment-driven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61475" y="449744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9495A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930" y="184845"/>
            <a:ext cx="8731907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Existing System vs Proposed System</a:t>
            </a:r>
            <a:endParaRPr lang="en-US" sz="3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488480"/>
            <a:ext cx="10868745" cy="3210322"/>
          </a:xfrm>
          <a:prstGeom prst="roundRect">
            <a:avLst>
              <a:gd name="adj" fmla="val 86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4" name="Shape 2"/>
          <p:cNvSpPr/>
          <p:nvPr/>
        </p:nvSpPr>
        <p:spPr>
          <a:xfrm>
            <a:off x="661475" y="2025650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559645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9364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627636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161631"/>
            <a:ext cx="10868745" cy="1162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1488480"/>
            <a:ext cx="11629" cy="32103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825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23258" y="0"/>
                </a:moveTo>
                <a:lnTo>
                  <a:pt x="5428023" y="0"/>
                </a:lnTo>
                <a:lnTo>
                  <a:pt x="5428023" y="530820"/>
                </a:lnTo>
                <a:lnTo>
                  <a:pt x="0" y="530820"/>
                </a:lnTo>
                <a:lnTo>
                  <a:pt x="0" y="23259"/>
                </a:lnTo>
                <a:arcTo wR="23258" hR="23259" stAng="10800000" swAng="5400000"/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1" name="Text 9"/>
          <p:cNvSpPr/>
          <p:nvPr/>
        </p:nvSpPr>
        <p:spPr>
          <a:xfrm>
            <a:off x="853855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Existing Systems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5848" y="1494830"/>
            <a:ext cx="5428023" cy="530820"/>
          </a:xfrm>
          <a:custGeom>
            <a:avLst/>
            <a:gdLst/>
            <a:ahLst/>
            <a:cxnLst/>
            <a:rect l="l" t="t" r="r" b="b"/>
            <a:pathLst>
              <a:path w="5428023" h="530820">
                <a:moveTo>
                  <a:pt x="0" y="0"/>
                </a:moveTo>
                <a:lnTo>
                  <a:pt x="5404765" y="0"/>
                </a:lnTo>
                <a:arcTo wR="23258" hR="23259" stAng="16200000" swAng="5400000"/>
                <a:lnTo>
                  <a:pt x="5428023" y="530820"/>
                </a:lnTo>
                <a:lnTo>
                  <a:pt x="0" y="5308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Text 11"/>
          <p:cNvSpPr/>
          <p:nvPr/>
        </p:nvSpPr>
        <p:spPr>
          <a:xfrm>
            <a:off x="6285053" y="1611015"/>
            <a:ext cx="5662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Career Compass AI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3855" y="2145010"/>
            <a:ext cx="20472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Resume-based analysis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85053" y="2145010"/>
            <a:ext cx="3158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+ job requirements analysis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3855" y="2679005"/>
            <a:ext cx="168152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Keyword matching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5053" y="2679005"/>
            <a:ext cx="27178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Semantic matching and scoring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855" y="3213001"/>
            <a:ext cx="23465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Generic recommendations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5053" y="3213001"/>
            <a:ext cx="27178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Role-specific recommendations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3855" y="3746996"/>
            <a:ext cx="21802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skill progress tracking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5053" y="3746996"/>
            <a:ext cx="24100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improvement analytics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3855" y="4280991"/>
            <a:ext cx="19807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No practical validation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85053" y="4280991"/>
            <a:ext cx="30171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 mock assessment and roadmap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661474" y="4683997"/>
            <a:ext cx="10868745" cy="724114"/>
          </a:xfrm>
          <a:prstGeom prst="roundRect">
            <a:avLst>
              <a:gd name="adj" fmla="val 869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2" name="Shape 7"/>
          <p:cNvSpPr/>
          <p:nvPr/>
        </p:nvSpPr>
        <p:spPr>
          <a:xfrm flipH="1">
            <a:off x="6084617" y="4720753"/>
            <a:ext cx="45719" cy="7213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Rectangle 32"/>
          <p:cNvSpPr/>
          <p:nvPr/>
        </p:nvSpPr>
        <p:spPr>
          <a:xfrm>
            <a:off x="787354" y="4814987"/>
            <a:ext cx="4813556" cy="661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candidates using </a:t>
            </a:r>
            <a:r>
              <a:rPr lang="en-US" sz="14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resume information only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2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1"/>
          <p:cNvSpPr/>
          <p:nvPr/>
        </p:nvSpPr>
        <p:spPr>
          <a:xfrm>
            <a:off x="6285053" y="4737147"/>
            <a:ext cx="5120010" cy="636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5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candidates using </a:t>
            </a: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resume, job requirements, </a:t>
            </a:r>
            <a:endParaRPr lang="en-US" sz="1450" b="1" dirty="0" smtClean="0">
              <a:solidFill>
                <a:srgbClr val="49495A"/>
              </a:solidFill>
              <a:latin typeface="Times New Roman" panose="02020603050405020304" pitchFamily="18" charset="0"/>
              <a:ea typeface="Open Sans Bold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2000"/>
              </a:lnSpc>
            </a:pPr>
            <a:r>
              <a:rPr lang="en-US" sz="1450" b="1" dirty="0" smtClean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assessment </a:t>
            </a:r>
            <a:r>
              <a:rPr lang="en-US" sz="145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results, and skill progress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527" y="302667"/>
            <a:ext cx="557307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Proposed System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7527" y="968697"/>
            <a:ext cx="11757621" cy="679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Vertical system flow showing how the platform moves from resume intake to role matching, project recommendations, assessment, analytics, and final readiness scoring.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5720" y="1842283"/>
            <a:ext cx="7208855" cy="320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User /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Student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Uploads resume and enters the target job description.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5720" y="2256912"/>
            <a:ext cx="8108453" cy="272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Resume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Analysis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Extracts ATS score, resume quality, and core profile strengths.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21265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7785" y="2675533"/>
            <a:ext cx="8108452" cy="335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Resume vs Job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Analysis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Compares matching skills and identifies missing skills.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81056" y="2401491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115" y="3099699"/>
            <a:ext cx="9563180" cy="291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Job/Company Match &amp; Role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Prediction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Predicts the best-fit role and company match score.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3885208"/>
            <a:ext cx="3549065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1115" y="3542739"/>
            <a:ext cx="821651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Recommended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Projects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Suggests skill-based projects to strengthen weak areas.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21265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785" y="3889240"/>
            <a:ext cx="8499152" cy="258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AI Mock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Assessment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Evaluates role-specific skills through an adaptive assessment.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81056" y="3659187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1115" y="4266713"/>
            <a:ext cx="9978815" cy="309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Skill Performance &amp; Progress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Analytics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Tracks performance trends and improvement over time.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31115" y="4674051"/>
            <a:ext cx="9384314" cy="29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Personalized Learning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Roadmap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Generates priority-based learning actions and next steps.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321265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1115" y="5088887"/>
            <a:ext cx="9043492" cy="293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Job/Company Readiness </a:t>
            </a:r>
            <a:r>
              <a:rPr lang="en-US" sz="1600" dirty="0" smtClean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Score - </a:t>
            </a:r>
            <a:r>
              <a:rPr lang="en-US" sz="16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Outputs final readiness for the target job and company.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q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81056" y="4938514"/>
            <a:ext cx="3549065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748"/>
            <a:ext cx="4666983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Modules of Career Compass AI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6566" y="1168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1 — Resume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6566" y="1389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 parsing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ATS assessment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Quality scoring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45962" y="1168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2 — Job Role / JD 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962" y="1389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Requirement extraction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identification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Resume–JD match scoring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6566" y="2184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3 — Skill Gap &amp; Recommendation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6566" y="2405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gap detection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Job role prediction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Project recommendations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45962" y="2184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4 — AI Mock Assessment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45962" y="2405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Role-specific questions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evaluation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Feedback scoring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6566" y="3200003"/>
            <a:ext cx="51690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5 — Skill Analytics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6566" y="3421955"/>
            <a:ext cx="51690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Assessment tracking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Score comparison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Progress trends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45962" y="3200003"/>
            <a:ext cx="5169168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6 — Personalized Roadmap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45962" y="3421955"/>
            <a:ext cx="5169168" cy="493713"/>
          </a:xfrm>
          <a:prstGeom prst="rect">
            <a:avLst/>
          </a:prstGeom>
          <a:noFill/>
          <a:ln/>
        </p:spPr>
        <p:txBody>
          <a:bodyPr wrap="square" lIns="0" tIns="46073" rIns="0" bIns="0" rtlCol="0" anchor="t">
            <a:normAutofit/>
          </a:bodyPr>
          <a:lstStyle/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Skill development plan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Learning resources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" indent="-182880" algn="l">
              <a:lnSpc>
                <a:spcPct val="107000"/>
              </a:lnSpc>
              <a:buSzPct val="100000"/>
              <a:buChar char="•"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Milestone tracking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475" y="4136033"/>
            <a:ext cx="1086874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Libre Baskerville" pitchFamily="34" charset="-122"/>
                <a:cs typeface="Times New Roman" panose="02020603050405020304" pitchFamily="18" charset="0"/>
              </a:rPr>
              <a:t>Module 7 — Company &amp; Career Readiness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1475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Company Readiness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1475" y="4711402"/>
            <a:ext cx="5293882" cy="1514872"/>
          </a:xfrm>
          <a:prstGeom prst="roundRect">
            <a:avLst>
              <a:gd name="adj" fmla="val 11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475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1475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1475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1475" y="597167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83015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Company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951685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Score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83015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Infosys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51685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91%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83015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TCS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51685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89%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83015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Zoho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51685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72%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83015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Amazon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951685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58%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83015" y="6023273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Google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951685" y="6023273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41%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42688" y="4484291"/>
            <a:ext cx="590346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Job Role Suitability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42688" y="4711402"/>
            <a:ext cx="5293882" cy="1514872"/>
          </a:xfrm>
          <a:prstGeom prst="roundRect">
            <a:avLst>
              <a:gd name="adj" fmla="val 136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2688" y="496599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42688" y="521741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42688" y="5468838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42688" y="5720259"/>
            <a:ext cx="5293882" cy="71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64228" y="476617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Job Role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532897" y="476617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Suitability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64228" y="5017591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Backend Developer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532897" y="5017591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92%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364228" y="526901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Java Developer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532897" y="526901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88%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364228" y="552043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Full Stack Developer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532897" y="552043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81%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364228" y="5771852"/>
            <a:ext cx="354807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Open Sans" pitchFamily="34" charset="-122"/>
                <a:cs typeface="Times New Roman" panose="02020603050405020304" pitchFamily="18" charset="0"/>
              </a:rPr>
              <a:t>AI Engineer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532897" y="5771852"/>
            <a:ext cx="249181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00" b="1" dirty="0">
                <a:latin typeface="Times New Roman" panose="02020603050405020304" pitchFamily="18" charset="0"/>
                <a:ea typeface="Open Sans Bold" pitchFamily="34" charset="-122"/>
                <a:cs typeface="Times New Roman" panose="02020603050405020304" pitchFamily="18" charset="0"/>
              </a:rPr>
              <a:t>60%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75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194" y="141316"/>
            <a:ext cx="1564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3" y="726092"/>
            <a:ext cx="5638566" cy="2790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21" y="726694"/>
            <a:ext cx="5225648" cy="27895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3" y="3757725"/>
            <a:ext cx="5638566" cy="29844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6621" y="3757726"/>
            <a:ext cx="5225648" cy="27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9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6" y="192498"/>
            <a:ext cx="5695555" cy="3023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673" y="192498"/>
            <a:ext cx="5665076" cy="30257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86" y="3579467"/>
            <a:ext cx="5695555" cy="30536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673" y="3579467"/>
            <a:ext cx="5665076" cy="2994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36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5" y="105049"/>
            <a:ext cx="5673281" cy="30375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268" y="108781"/>
            <a:ext cx="5726645" cy="3031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5" y="3675744"/>
            <a:ext cx="5653502" cy="29923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268" y="3578068"/>
            <a:ext cx="5726645" cy="30673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5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4" y="96308"/>
            <a:ext cx="5769033" cy="30900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296" y="3477428"/>
            <a:ext cx="5769033" cy="30949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089178" y="6572337"/>
            <a:ext cx="1056976" cy="2421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7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916</Words>
  <Application>Microsoft Office PowerPoint</Application>
  <PresentationFormat>Widescreen</PresentationFormat>
  <Paragraphs>188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Arial</vt:lpstr>
      <vt:lpstr>Wingdings</vt:lpstr>
      <vt:lpstr>Calibri</vt:lpstr>
      <vt:lpstr>Libre Baskerville</vt:lpstr>
      <vt:lpstr>Open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23AD017</cp:lastModifiedBy>
  <cp:revision>37</cp:revision>
  <dcterms:created xsi:type="dcterms:W3CDTF">2026-08-19T19:23:55Z</dcterms:created>
  <dcterms:modified xsi:type="dcterms:W3CDTF">2026-09-24T09:03:42Z</dcterms:modified>
</cp:coreProperties>
</file>