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87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72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9704" y="1107943"/>
            <a:ext cx="7532286" cy="101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000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Career Compass AI - </a:t>
            </a:r>
            <a:r>
              <a:rPr lang="en-US" sz="20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AI powered employability </a:t>
            </a:r>
          </a:p>
          <a:p>
            <a:pPr algn="ctr">
              <a:lnSpc>
                <a:spcPct val="104000"/>
              </a:lnSpc>
            </a:pPr>
            <a:r>
              <a:rPr lang="en-US" sz="20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assessment and career readiness platform Using Resume</a:t>
            </a:r>
          </a:p>
          <a:p>
            <a:pPr algn="ctr">
              <a:lnSpc>
                <a:spcPct val="104000"/>
              </a:lnSpc>
            </a:pPr>
            <a:r>
              <a:rPr lang="en-US" sz="20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Analysis and Skill Gap Assessment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56682" y="3457029"/>
            <a:ext cx="6550966" cy="461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Department of Artificial Intelligence and Data Science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1191" y="3918501"/>
            <a:ext cx="3270974" cy="881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P.S.R Engineering College, Sivakasi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Academic Year: 2026–2027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38121" y="3461719"/>
            <a:ext cx="173888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Presented By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6310" y="3756994"/>
            <a:ext cx="3492868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b="1" dirty="0" err="1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Saravanan</a:t>
            </a: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K (23AD045) – IV year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b="1" dirty="0" err="1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Mathan</a:t>
            </a: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M (23AD024) – IV year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b="1" dirty="0" err="1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Logesh</a:t>
            </a: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K (23AD023) – IV year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b="1" dirty="0" err="1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Kavutham</a:t>
            </a: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M (23AD017) – IV year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6310" y="5308973"/>
            <a:ext cx="40596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Project Guide:</a:t>
            </a: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Mrs. V. Devi </a:t>
            </a:r>
            <a:r>
              <a:rPr lang="en-US" sz="1600" b="1" dirty="0" err="1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Nandhini</a:t>
            </a: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Mam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1089178" y="6568493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5852" y="219169"/>
            <a:ext cx="60136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Domain &amp; Technology Stack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2483" y="995094"/>
            <a:ext cx="1880237" cy="28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6000"/>
              </a:lnSpc>
            </a:pPr>
            <a:r>
              <a:rPr lang="en-US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Primary Domain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96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65852" y="1543765"/>
            <a:ext cx="4053900" cy="462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Artificial Intelligence &amp; Data Science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68335" y="4301710"/>
            <a:ext cx="3044100" cy="32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Natural Language Processing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94015" y="4559980"/>
            <a:ext cx="3380855" cy="49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 and job description analysis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348097" y="4300663"/>
            <a:ext cx="222958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Machine Learning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684031" y="4578236"/>
            <a:ext cx="2873282" cy="441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Matching and candidate scoring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368335" y="5161508"/>
            <a:ext cx="3144887" cy="288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Recommendation Systems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94015" y="5452750"/>
            <a:ext cx="3214350" cy="426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Job and learning recommendations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5354521" y="5178978"/>
            <a:ext cx="1849951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Data Analytics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5684031" y="5452750"/>
            <a:ext cx="3338732" cy="460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Performance and readiness tracking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344825" y="2736611"/>
            <a:ext cx="130744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Frontend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57351" y="2998147"/>
            <a:ext cx="605171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React.js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2179784" y="2711931"/>
            <a:ext cx="120965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Backend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2452927" y="3005474"/>
            <a:ext cx="124537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Python, FastAPI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4668033" y="2692439"/>
            <a:ext cx="1245163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Database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4888708" y="3007230"/>
            <a:ext cx="91265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PostgreSQL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6682330" y="2692439"/>
            <a:ext cx="7816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NLP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6991768" y="2998147"/>
            <a:ext cx="156554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spaCy, Transformers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9373843" y="2692439"/>
            <a:ext cx="1294643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Analytics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9747718" y="2986359"/>
            <a:ext cx="54689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Python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63990" y="2146905"/>
            <a:ext cx="2306521" cy="624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6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>
              <a:lnSpc>
                <a:spcPct val="96000"/>
              </a:lnSpc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8335" y="3692333"/>
            <a:ext cx="197791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Sub-Domains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509" y="382671"/>
            <a:ext cx="1955601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Text 2"/>
          <p:cNvSpPr/>
          <p:nvPr/>
        </p:nvSpPr>
        <p:spPr>
          <a:xfrm>
            <a:off x="188509" y="1398174"/>
            <a:ext cx="2797287" cy="436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 3"/>
          <p:cNvSpPr/>
          <p:nvPr/>
        </p:nvSpPr>
        <p:spPr>
          <a:xfrm>
            <a:off x="188509" y="1949905"/>
            <a:ext cx="11605385" cy="675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Students often apply for jobs without knowing whether their skills and resume fit specific roles. Existing systems mainly focus on parsing and keyword matching, without evaluating actual competency.</a:t>
            </a:r>
            <a:endParaRPr lang="en-US" sz="1600" b="1" dirty="0">
              <a:latin typeface="Times New Roman" panose="02020603050405020304" pitchFamily="18" charset="0"/>
              <a:ea typeface="Open Sans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35612" y="3287118"/>
            <a:ext cx="2703079" cy="283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8" name="Text 6"/>
          <p:cNvSpPr/>
          <p:nvPr/>
        </p:nvSpPr>
        <p:spPr>
          <a:xfrm>
            <a:off x="234355" y="3780030"/>
            <a:ext cx="11957645" cy="191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4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Career Compass AI analyzes a student's resume against selected job roles or job descriptions. It evaluates resume quality, ATS compatibility, job match, missing skills, and improvement areas.</a:t>
            </a:r>
            <a:endParaRPr lang="en-US" sz="1400" b="1" dirty="0">
              <a:latin typeface="Times New Roman" panose="02020603050405020304" pitchFamily="18" charset="0"/>
              <a:ea typeface="Open Sans" panose="020B0604020202020204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The platform also recommends projects, conducts role-specific mock assessments, tracks skill growth, and generates a personalized learning roadmap.</a:t>
            </a:r>
          </a:p>
          <a:p>
            <a:pPr>
              <a:lnSpc>
                <a:spcPct val="131000"/>
              </a:lnSpc>
            </a:pPr>
            <a:endParaRPr lang="en-US" sz="1400" b="1" dirty="0">
              <a:solidFill>
                <a:srgbClr val="000000"/>
              </a:solidFill>
              <a:latin typeface="Times New Roman" panose="02020603050405020304" pitchFamily="18" charset="0"/>
              <a:ea typeface="Open Sans" panose="020B0604020202020204" charset="0"/>
              <a:cs typeface="Times New Roman" panose="02020603050405020304" pitchFamily="18" charset="0"/>
            </a:endParaRPr>
          </a:p>
          <a:p>
            <a:pPr>
              <a:lnSpc>
                <a:spcPct val="131000"/>
              </a:lnSpc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The system guides candidates toward job readiness.</a:t>
            </a:r>
            <a:endParaRPr lang="en-US" sz="1400" b="1" dirty="0">
              <a:latin typeface="Times New Roman" panose="02020603050405020304" pitchFamily="18" charset="0"/>
              <a:ea typeface="Open Sans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Times New Roman" panose="02020603050405020304" pitchFamily="18" charset="0"/>
              <a:ea typeface="Open Sans" panose="020B060402020202020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71376"/>
            <a:ext cx="441760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Project Objectives</a:t>
            </a:r>
            <a:endParaRPr lang="en-US" sz="3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61475" y="2956322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3913287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4870252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5848" y="1693763"/>
            <a:ext cx="11814" cy="443904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6967" y="1811536"/>
            <a:ext cx="23318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1. Resume Analysis</a:t>
            </a:r>
            <a:endParaRPr lang="en-US" sz="18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6832" y="2228552"/>
            <a:ext cx="504683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Analyze resume structure, skills, education, projects, and experience.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88029" y="1819870"/>
            <a:ext cx="155918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2. Job Match</a:t>
            </a:r>
            <a:endParaRPr lang="en-US" sz="18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88029" y="2228552"/>
            <a:ext cx="504683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Compare the candidate profile with selected job roles or descriptions.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6832" y="3079254"/>
            <a:ext cx="31499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3. Skill Gap Identification</a:t>
            </a:r>
            <a:endParaRPr lang="en-US" sz="18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6832" y="3487936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Identify matching, missing, and weak skills.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88029" y="3079254"/>
            <a:ext cx="348773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4. Career Recommendations</a:t>
            </a:r>
            <a:endParaRPr lang="en-US" sz="18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88029" y="3487936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Recommend suitable job roles, companies, and projects.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6832" y="4036219"/>
            <a:ext cx="24350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5. Mock Assessment</a:t>
            </a:r>
            <a:endParaRPr lang="en-US" sz="18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6832" y="4444901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Generate role-specific assessments.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88029" y="4036219"/>
            <a:ext cx="20496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6. Skill Analytics</a:t>
            </a:r>
            <a:endParaRPr lang="en-US" sz="18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88029" y="4444901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Track improvement across assessment attempts.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56832" y="4993184"/>
            <a:ext cx="307508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7. Personalized Roadmap</a:t>
            </a:r>
            <a:endParaRPr lang="en-US" sz="18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56832" y="5401866"/>
            <a:ext cx="504683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Generate a learning roadmap based on performance and gaps.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88029" y="4993184"/>
            <a:ext cx="22657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8. Readiness Score</a:t>
            </a:r>
            <a:endParaRPr lang="en-US" sz="18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88029" y="5401866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Provide a job-specific employability score.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1056394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592" y="321320"/>
            <a:ext cx="3503201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Literature Survey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5592" y="1044376"/>
            <a:ext cx="11800562" cy="645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Five foundational papers shaped this work, which extends prior systems with ATS scoring, job matching, skill-gap analysis, project recommendations, and skill improvement tracking.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61475" y="1903214"/>
            <a:ext cx="10868745" cy="3467497"/>
          </a:xfrm>
          <a:prstGeom prst="roundRect">
            <a:avLst>
              <a:gd name="adj" fmla="val 66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297708"/>
            <a:ext cx="10868745" cy="95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2911673"/>
            <a:ext cx="10868745" cy="95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525639"/>
            <a:ext cx="10868745" cy="95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139605"/>
            <a:ext cx="10868745" cy="95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753570"/>
            <a:ext cx="10868745" cy="95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924" y="1909564"/>
            <a:ext cx="3799586" cy="388144"/>
          </a:xfrm>
          <a:custGeom>
            <a:avLst/>
            <a:gdLst/>
            <a:ahLst/>
            <a:cxnLst/>
            <a:rect l="l" t="t" r="r" b="b"/>
            <a:pathLst>
              <a:path w="3799586" h="388144">
                <a:moveTo>
                  <a:pt x="19197" y="0"/>
                </a:moveTo>
                <a:lnTo>
                  <a:pt x="3799586" y="0"/>
                </a:lnTo>
                <a:lnTo>
                  <a:pt x="3799586" y="388144"/>
                </a:lnTo>
                <a:lnTo>
                  <a:pt x="0" y="388144"/>
                </a:lnTo>
                <a:lnTo>
                  <a:pt x="0" y="19198"/>
                </a:lnTo>
                <a:arcTo wR="19197" hR="19198" stAng="10800000" swAng="5400000"/>
                <a:close/>
              </a:path>
            </a:pathLst>
          </a:custGeom>
          <a:solidFill>
            <a:srgbClr val="E8EEF5"/>
          </a:solidFill>
          <a:ln/>
        </p:spPr>
      </p:sp>
      <p:sp>
        <p:nvSpPr>
          <p:cNvPr id="11" name="Text 9"/>
          <p:cNvSpPr/>
          <p:nvPr/>
        </p:nvSpPr>
        <p:spPr>
          <a:xfrm>
            <a:off x="821411" y="1990725"/>
            <a:ext cx="4102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Paper Title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67510" y="1909564"/>
            <a:ext cx="3799586" cy="388144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13" name="Text 11"/>
          <p:cNvSpPr/>
          <p:nvPr/>
        </p:nvSpPr>
        <p:spPr>
          <a:xfrm>
            <a:off x="4620998" y="1990725"/>
            <a:ext cx="4102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Main Contribution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67096" y="1909564"/>
            <a:ext cx="3256774" cy="388144"/>
          </a:xfrm>
          <a:custGeom>
            <a:avLst/>
            <a:gdLst/>
            <a:ahLst/>
            <a:cxnLst/>
            <a:rect l="l" t="t" r="r" b="b"/>
            <a:pathLst>
              <a:path w="3256774" h="388144">
                <a:moveTo>
                  <a:pt x="0" y="0"/>
                </a:moveTo>
                <a:lnTo>
                  <a:pt x="3237577" y="0"/>
                </a:lnTo>
                <a:arcTo wR="19197" hR="19198" stAng="16200000" swAng="5400000"/>
                <a:lnTo>
                  <a:pt x="3256774" y="388144"/>
                </a:lnTo>
                <a:lnTo>
                  <a:pt x="0" y="388144"/>
                </a:lnTo>
                <a:lnTo>
                  <a:pt x="0" y="0"/>
                </a:lnTo>
                <a:close/>
              </a:path>
            </a:pathLst>
          </a:custGeom>
          <a:solidFill>
            <a:srgbClr val="E8EEF5"/>
          </a:solidFill>
          <a:ln/>
        </p:spPr>
      </p:sp>
      <p:sp>
        <p:nvSpPr>
          <p:cNvPr id="15" name="Text 13"/>
          <p:cNvSpPr/>
          <p:nvPr/>
        </p:nvSpPr>
        <p:spPr>
          <a:xfrm>
            <a:off x="8420584" y="1990725"/>
            <a:ext cx="355938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Gap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1411" y="2382044"/>
            <a:ext cx="349261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An Intelligent Resume Analysis and Job Recommendation System Using NLP </a:t>
            </a:r>
            <a:r>
              <a:rPr lang="en-US" sz="1200" b="1" i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(2026)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20998" y="2382044"/>
            <a:ext cx="4102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 parsing and job recommendation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20584" y="2382044"/>
            <a:ext cx="355938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No competency validation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1411" y="2996009"/>
            <a:ext cx="349261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Job Description Parsing with Explainable Transformer Models </a:t>
            </a:r>
            <a:r>
              <a:rPr lang="en-US" sz="1200" b="1" i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(2024)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20998" y="2996009"/>
            <a:ext cx="4102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JD parsing and skill extraction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420584" y="2996009"/>
            <a:ext cx="355938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JD-focused only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1411" y="3623830"/>
            <a:ext cx="349261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Smart-Hiring: End-to-End CV Information Extraction and Job Matching </a:t>
            </a:r>
            <a:r>
              <a:rPr lang="en-US" sz="1200" b="1" i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(2025)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20998" y="3609975"/>
            <a:ext cx="4102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CV extraction and job matching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420584" y="3609975"/>
            <a:ext cx="355938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No personalized skill-development cycle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1411" y="4223941"/>
            <a:ext cx="349261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AI-Powered Semantic Resume &amp; Skill-Gap Analyzer </a:t>
            </a:r>
            <a:r>
              <a:rPr lang="en-US" sz="1200" b="1" i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(2025)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620998" y="4223941"/>
            <a:ext cx="4102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Semantic matching and skill-gap detection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420584" y="4223941"/>
            <a:ext cx="355938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Limited progress tracking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21411" y="4837906"/>
            <a:ext cx="349261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 Analysis Using NLP and ATS Algorithm </a:t>
            </a:r>
            <a:r>
              <a:rPr lang="en-US" sz="1200" b="1" i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(2025)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620998" y="4837906"/>
            <a:ext cx="4102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ATS scoring and resume evaluation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420584" y="4837906"/>
            <a:ext cx="355938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No assessment-driven roadmap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21411" y="5687878"/>
            <a:ext cx="1055532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Research Gap:</a:t>
            </a: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Existing systems address resume analysis, job matching, or skill-gap detection separately. An integrated cycle for assessment, tracking, and personalized career development remains limited.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29" y="109240"/>
            <a:ext cx="674516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Summary of Literature Survey</a:t>
            </a:r>
            <a:endParaRPr lang="en-US" sz="3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70529" y="1020122"/>
            <a:ext cx="2705181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Existing Research Coverage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1748" y="1769079"/>
            <a:ext cx="2236637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Most approaches focus on: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61475" y="2156991"/>
            <a:ext cx="3333917" cy="1651000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 processing and parsing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Job description analysis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Resume–job matching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Skill gap identification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Recommendation systems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1475" y="5146443"/>
            <a:ext cx="105623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Limitations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1475" y="5516803"/>
            <a:ext cx="4750326" cy="876796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No integrated assessment pipeline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Limited personalized development tracking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Few systems connect analysis to actionable improvement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89088" y="1020122"/>
            <a:ext cx="236081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Our Proposed Contribution</a:t>
            </a:r>
            <a:endParaRPr lang="en-US" sz="1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115694" y="1769079"/>
            <a:ext cx="17076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Integrated workflow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215447" y="2160354"/>
            <a:ext cx="4629574" cy="1652186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Autofit/>
          </a:bodyPr>
          <a:lstStyle/>
          <a:p>
            <a:pPr marL="264160" indent="-264160">
              <a:lnSpc>
                <a:spcPct val="127000"/>
              </a:lnSpc>
              <a:buSzPct val="100000"/>
              <a:buFontTx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 processing &amp; Readiness scoring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Job description analysis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Resume–job matching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>
              <a:lnSpc>
                <a:spcPct val="127000"/>
              </a:lnSpc>
              <a:buSzPct val="100000"/>
              <a:buFontTx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Skill gap analysis &amp; Project recommendations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Assessment-driven recommendations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661475" y="4497441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9495A">
              <a:alpha val="5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0930" y="184845"/>
            <a:ext cx="8731907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Existing System vs Proposed System</a:t>
            </a:r>
            <a:endParaRPr lang="en-US" sz="3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475" y="1488480"/>
            <a:ext cx="10868745" cy="3210322"/>
          </a:xfrm>
          <a:prstGeom prst="roundRect">
            <a:avLst>
              <a:gd name="adj" fmla="val 869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4" name="Shape 2"/>
          <p:cNvSpPr/>
          <p:nvPr/>
        </p:nvSpPr>
        <p:spPr>
          <a:xfrm>
            <a:off x="661475" y="2025650"/>
            <a:ext cx="10868745" cy="1162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559645"/>
            <a:ext cx="10868745" cy="1162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093641"/>
            <a:ext cx="10868745" cy="1162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627636"/>
            <a:ext cx="10868745" cy="1162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161631"/>
            <a:ext cx="10868745" cy="1162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1488480"/>
            <a:ext cx="11629" cy="32103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825" y="1494830"/>
            <a:ext cx="5428023" cy="530820"/>
          </a:xfrm>
          <a:custGeom>
            <a:avLst/>
            <a:gdLst/>
            <a:ahLst/>
            <a:cxnLst/>
            <a:rect l="l" t="t" r="r" b="b"/>
            <a:pathLst>
              <a:path w="5428023" h="530820">
                <a:moveTo>
                  <a:pt x="23258" y="0"/>
                </a:moveTo>
                <a:lnTo>
                  <a:pt x="5428023" y="0"/>
                </a:lnTo>
                <a:lnTo>
                  <a:pt x="5428023" y="530820"/>
                </a:lnTo>
                <a:lnTo>
                  <a:pt x="0" y="530820"/>
                </a:lnTo>
                <a:lnTo>
                  <a:pt x="0" y="23259"/>
                </a:lnTo>
                <a:arcTo wR="23258" hR="23259" stAng="10800000" swAng="5400000"/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1" name="Text 9"/>
          <p:cNvSpPr/>
          <p:nvPr/>
        </p:nvSpPr>
        <p:spPr>
          <a:xfrm>
            <a:off x="853855" y="1611015"/>
            <a:ext cx="56623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Existing Systems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95848" y="1494830"/>
            <a:ext cx="5428023" cy="530820"/>
          </a:xfrm>
          <a:custGeom>
            <a:avLst/>
            <a:gdLst/>
            <a:ahLst/>
            <a:cxnLst/>
            <a:rect l="l" t="t" r="r" b="b"/>
            <a:pathLst>
              <a:path w="5428023" h="530820">
                <a:moveTo>
                  <a:pt x="0" y="0"/>
                </a:moveTo>
                <a:lnTo>
                  <a:pt x="5404765" y="0"/>
                </a:lnTo>
                <a:arcTo wR="23258" hR="23259" stAng="16200000" swAng="5400000"/>
                <a:lnTo>
                  <a:pt x="5428023" y="530820"/>
                </a:lnTo>
                <a:lnTo>
                  <a:pt x="0" y="5308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3" name="Text 11"/>
          <p:cNvSpPr/>
          <p:nvPr/>
        </p:nvSpPr>
        <p:spPr>
          <a:xfrm>
            <a:off x="6285053" y="1611015"/>
            <a:ext cx="56623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Career Compass AI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53855" y="2145010"/>
            <a:ext cx="204728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Resume-based analysis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85053" y="2145010"/>
            <a:ext cx="3158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 + job requirements analysis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3855" y="2679005"/>
            <a:ext cx="168152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Keyword matching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85053" y="2679005"/>
            <a:ext cx="27178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Semantic matching and scoring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3855" y="3213001"/>
            <a:ext cx="23465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Generic recommendations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85053" y="3213001"/>
            <a:ext cx="27178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Role-specific recommendations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3855" y="3746996"/>
            <a:ext cx="218029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No skill progress tracking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85053" y="3746996"/>
            <a:ext cx="24100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Skill improvement analytics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3855" y="4280991"/>
            <a:ext cx="198078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No practical validation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85053" y="4280991"/>
            <a:ext cx="30171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AI mock assessment and roadmap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661474" y="4683997"/>
            <a:ext cx="10868745" cy="724114"/>
          </a:xfrm>
          <a:prstGeom prst="roundRect">
            <a:avLst>
              <a:gd name="adj" fmla="val 869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32" name="Shape 7"/>
          <p:cNvSpPr/>
          <p:nvPr/>
        </p:nvSpPr>
        <p:spPr>
          <a:xfrm flipH="1">
            <a:off x="6084617" y="4720753"/>
            <a:ext cx="45719" cy="72133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3" name="Rectangle 32"/>
          <p:cNvSpPr/>
          <p:nvPr/>
        </p:nvSpPr>
        <p:spPr>
          <a:xfrm>
            <a:off x="787354" y="4814987"/>
            <a:ext cx="4813556" cy="632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</a:pPr>
            <a:r>
              <a:rPr lang="en-US" sz="14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Evaluates candidates using </a:t>
            </a:r>
            <a:r>
              <a:rPr lang="en-US" sz="14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resume information only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2000"/>
              </a:lnSpc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1"/>
          <p:cNvSpPr/>
          <p:nvPr/>
        </p:nvSpPr>
        <p:spPr>
          <a:xfrm>
            <a:off x="6285053" y="4737147"/>
            <a:ext cx="5120010" cy="636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2000"/>
              </a:lnSpc>
            </a:pPr>
            <a:r>
              <a:rPr lang="en-US" sz="145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Evaluates candidates using </a:t>
            </a:r>
            <a:r>
              <a:rPr lang="en-US" sz="1450" b="1" dirty="0">
                <a:solidFill>
                  <a:srgbClr val="49495A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resume, job requirements, </a:t>
            </a:r>
          </a:p>
          <a:p>
            <a:pPr>
              <a:lnSpc>
                <a:spcPct val="132000"/>
              </a:lnSpc>
            </a:pPr>
            <a:r>
              <a:rPr lang="en-US" sz="1450" b="1" dirty="0">
                <a:solidFill>
                  <a:srgbClr val="49495A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assessment results, and skill progress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2000"/>
              </a:lnSpc>
              <a:buNone/>
            </a:pP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527" y="302667"/>
            <a:ext cx="5573070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Proposed System Architecture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37527" y="968697"/>
            <a:ext cx="11757621" cy="679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Vertical system flow showing how the platform moves from resume intake to role matching, project recommendations, assessment, analytics, and final readiness scoring.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35377" y="1786035"/>
            <a:ext cx="7208855" cy="320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User / Student - </a:t>
            </a: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Uploads resume and enters the target job description.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4000"/>
              </a:lnSpc>
              <a:buFont typeface="Arial" panose="020B0604020202020204" pitchFamily="34" charset="0"/>
              <a:buChar char="•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61475" y="2401491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5720" y="2256912"/>
            <a:ext cx="8108453" cy="272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Resume Analysis - </a:t>
            </a: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Extracts ATS score, resume quality, and core profile strengths.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4000"/>
              </a:lnSpc>
              <a:buFont typeface="Arial" panose="020B0604020202020204" pitchFamily="34" charset="0"/>
              <a:buChar char="•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21265" y="2401491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17785" y="2675533"/>
            <a:ext cx="8108452" cy="335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Resume vs Job Analysis - </a:t>
            </a: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Compares matching skills and identifies missing skills.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4000"/>
              </a:lnSpc>
              <a:buFont typeface="Arial" panose="020B0604020202020204" pitchFamily="34" charset="0"/>
              <a:buChar char="•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81056" y="2401491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1115" y="3099699"/>
            <a:ext cx="9563180" cy="291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Job/Company Match &amp; Role Prediction - </a:t>
            </a: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Predicts the best-fit role and company match score.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4000"/>
              </a:lnSpc>
              <a:buFont typeface="Arial" panose="020B0604020202020204" pitchFamily="34" charset="0"/>
              <a:buChar char="•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1475" y="3885208"/>
            <a:ext cx="3549065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1115" y="3542739"/>
            <a:ext cx="821651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Recommended Projects - </a:t>
            </a: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Suggests skill-based projects to strengthen weak areas.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4000"/>
              </a:lnSpc>
              <a:buFont typeface="Arial" panose="020B0604020202020204" pitchFamily="34" charset="0"/>
              <a:buChar char="•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321265" y="3659187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17785" y="3889240"/>
            <a:ext cx="8499152" cy="258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AI Mock Assessment - </a:t>
            </a: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Evaluates role-specific skills through an adaptive assessment.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4000"/>
              </a:lnSpc>
              <a:buFont typeface="Arial" panose="020B0604020202020204" pitchFamily="34" charset="0"/>
              <a:buChar char="•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81056" y="3659187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31115" y="4266713"/>
            <a:ext cx="9978815" cy="309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Skill Performance &amp; Progress Analytics - </a:t>
            </a: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Tracks performance trends and improvement over time.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4000"/>
              </a:lnSpc>
              <a:buFont typeface="Arial" panose="020B0604020202020204" pitchFamily="34" charset="0"/>
              <a:buChar char="•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31115" y="4674051"/>
            <a:ext cx="9384314" cy="297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Personalized Learning Roadmap - </a:t>
            </a: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Generates priority-based learning actions and next steps.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4000"/>
              </a:lnSpc>
              <a:buFont typeface="Arial" panose="020B0604020202020204" pitchFamily="34" charset="0"/>
              <a:buChar char="•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321265" y="4938514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31115" y="5088887"/>
            <a:ext cx="9043492" cy="293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Job/Company Readiness Score - </a:t>
            </a: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Outputs final readiness for the target job and company.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4000"/>
              </a:lnSpc>
              <a:buFont typeface="Arial" panose="020B0604020202020204" pitchFamily="34" charset="0"/>
              <a:buChar char="•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981056" y="4938514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2748"/>
            <a:ext cx="4666983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Modules of Career Compass AI</a:t>
            </a:r>
            <a:endParaRPr lang="en-US" sz="2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6566" y="1168003"/>
            <a:ext cx="516906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Module 1 — Resume Analysis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6566" y="1389955"/>
            <a:ext cx="5169068" cy="493713"/>
          </a:xfrm>
          <a:prstGeom prst="rect">
            <a:avLst/>
          </a:prstGeom>
          <a:noFill/>
          <a:ln/>
        </p:spPr>
        <p:txBody>
          <a:bodyPr wrap="square" lIns="0" tIns="46073" rIns="0" bIns="0" rtlCol="0" anchor="t">
            <a:no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 parsing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ATS assessment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Quality scoring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45962" y="1168003"/>
            <a:ext cx="516916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Module 2 — Job Role / JD Analysis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45962" y="1389955"/>
            <a:ext cx="5169168" cy="493713"/>
          </a:xfrm>
          <a:prstGeom prst="rect">
            <a:avLst/>
          </a:prstGeom>
          <a:noFill/>
          <a:ln/>
        </p:spPr>
        <p:txBody>
          <a:bodyPr wrap="square" lIns="0" tIns="46073" rIns="0" bIns="0" rtlCol="0" anchor="t">
            <a:no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Requirement extraction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Skill identification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Resume–JD match scoring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6566" y="2184003"/>
            <a:ext cx="516906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Module 3 — Skill Gap &amp; Recommendation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6566" y="2405955"/>
            <a:ext cx="5169068" cy="493713"/>
          </a:xfrm>
          <a:prstGeom prst="rect">
            <a:avLst/>
          </a:prstGeom>
          <a:noFill/>
          <a:ln/>
        </p:spPr>
        <p:txBody>
          <a:bodyPr wrap="square" lIns="0" tIns="46073" rIns="0" bIns="0" rtlCol="0" anchor="t">
            <a:no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Skill gap detection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Job role prediction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Project recommendations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45962" y="2184003"/>
            <a:ext cx="516916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Module 4 — AI Mock Assessment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45962" y="2405955"/>
            <a:ext cx="5169168" cy="493713"/>
          </a:xfrm>
          <a:prstGeom prst="rect">
            <a:avLst/>
          </a:prstGeom>
          <a:noFill/>
          <a:ln/>
        </p:spPr>
        <p:txBody>
          <a:bodyPr wrap="square" lIns="0" tIns="46073" rIns="0" bIns="0" rtlCol="0" anchor="t">
            <a:no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Role-specific questions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Skill evaluation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Feedback scoring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6566" y="3200003"/>
            <a:ext cx="516906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Module 5 — Skill Analytics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6566" y="3421955"/>
            <a:ext cx="5169068" cy="493713"/>
          </a:xfrm>
          <a:prstGeom prst="rect">
            <a:avLst/>
          </a:prstGeom>
          <a:noFill/>
          <a:ln/>
        </p:spPr>
        <p:txBody>
          <a:bodyPr wrap="square" lIns="0" tIns="46073" rIns="0" bIns="0" rtlCol="0" anchor="t">
            <a:no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Assessment tracking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Score comparison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Progress trends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45962" y="3200003"/>
            <a:ext cx="516916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Module 6 — Personalized Roadmap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45962" y="3421955"/>
            <a:ext cx="5169168" cy="493713"/>
          </a:xfrm>
          <a:prstGeom prst="rect">
            <a:avLst/>
          </a:prstGeom>
          <a:noFill/>
          <a:ln/>
        </p:spPr>
        <p:txBody>
          <a:bodyPr wrap="square" lIns="0" tIns="46073" rIns="0" bIns="0" rtlCol="0" anchor="t">
            <a:no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Skill development plan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Learning resources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Milestone tracking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1475" y="4136033"/>
            <a:ext cx="1086874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Module 7 — Company &amp; Career Readiness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1475" y="4484291"/>
            <a:ext cx="590346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Company Readiness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61475" y="4711402"/>
            <a:ext cx="5293882" cy="1514872"/>
          </a:xfrm>
          <a:prstGeom prst="roundRect">
            <a:avLst>
              <a:gd name="adj" fmla="val 1141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1475" y="4965998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61475" y="5217418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61475" y="5468838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61475" y="5720259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61475" y="5971679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83015" y="4766171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Company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951685" y="4766171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Score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83015" y="5017591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Infosys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951685" y="5017591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91%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83015" y="5269012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TCS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951685" y="5269012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89%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83015" y="5520432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Zoho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951685" y="5520432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72%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83015" y="5771852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Amazon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951685" y="5771852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58%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83015" y="6023273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Google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3951685" y="6023273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41%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242688" y="4484291"/>
            <a:ext cx="590346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Job Role Suitability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42688" y="4711402"/>
            <a:ext cx="5293882" cy="1514872"/>
          </a:xfrm>
          <a:prstGeom prst="roundRect">
            <a:avLst>
              <a:gd name="adj" fmla="val 1367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42688" y="4965998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42688" y="5217418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42688" y="5468838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42688" y="5720259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364228" y="4766171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Job Role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532897" y="4766171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Suitability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364228" y="5017591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00" b="1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Backend Developer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532897" y="5017591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92%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364228" y="5269012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00" b="1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Java Developer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532897" y="5269012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88%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364228" y="5520432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00" b="1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Full Stack Developer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9532897" y="5520432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81%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364228" y="5771852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00" b="1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AI Engineer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9532897" y="5771852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60%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756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193" y="141316"/>
            <a:ext cx="22194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93" y="726092"/>
            <a:ext cx="5638566" cy="27901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621" y="726694"/>
            <a:ext cx="5225648" cy="27895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93" y="3757725"/>
            <a:ext cx="5638566" cy="29844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621" y="3757726"/>
            <a:ext cx="5225648" cy="276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291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86" y="192498"/>
            <a:ext cx="5695555" cy="30238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673" y="192498"/>
            <a:ext cx="5665076" cy="302576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86" y="3579467"/>
            <a:ext cx="5695555" cy="30536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673" y="3579467"/>
            <a:ext cx="5665076" cy="2994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364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25" y="105049"/>
            <a:ext cx="5673281" cy="30375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268" y="108781"/>
            <a:ext cx="5726645" cy="30310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05" y="3675744"/>
            <a:ext cx="5653502" cy="299233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268" y="3578068"/>
            <a:ext cx="5726645" cy="30673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958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04" y="96308"/>
            <a:ext cx="5769033" cy="30900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296" y="3477428"/>
            <a:ext cx="5769033" cy="309490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970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3F3561-4F77-36BA-D59D-C5D22CE28D5C}"/>
              </a:ext>
            </a:extLst>
          </p:cNvPr>
          <p:cNvSpPr txBox="1"/>
          <p:nvPr/>
        </p:nvSpPr>
        <p:spPr>
          <a:xfrm>
            <a:off x="101907" y="295861"/>
            <a:ext cx="59940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rtl="0">
              <a:buNone/>
            </a:pPr>
            <a:r>
              <a:rPr lang="en-IN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0A2432-D900-FB4E-66DA-860950A52E31}"/>
              </a:ext>
            </a:extLst>
          </p:cNvPr>
          <p:cNvSpPr txBox="1"/>
          <p:nvPr/>
        </p:nvSpPr>
        <p:spPr>
          <a:xfrm>
            <a:off x="101906" y="970384"/>
            <a:ext cx="11943913" cy="585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 a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AI-assisted employability platform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&amp; Job Description analysis identifies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skills, requirements and compatibility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ATS-oriented analysis provides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resume and job-match scores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 module identifies and prioritizes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missing/weak skills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Recommendation converts skill gaps into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development projects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Role-aware assessment measures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skill-wise technical 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tracks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across multiple assessment attempts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roadmap adapts to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skill gaps and assessment results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validation completed successfully across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authentication, ATS, assessment, analytics, roadmap and deployment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Outcome: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→ Identify → Practise → Assess → Improve → Reassess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433DCA17-1F07-B5B2-C70E-E30E7F4432C5}"/>
              </a:ext>
            </a:extLst>
          </p:cNvPr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180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C6FDC4-9230-B5A4-B721-21440FC69A73}"/>
              </a:ext>
            </a:extLst>
          </p:cNvPr>
          <p:cNvSpPr txBox="1"/>
          <p:nvPr/>
        </p:nvSpPr>
        <p:spPr>
          <a:xfrm>
            <a:off x="158619" y="223936"/>
            <a:ext cx="92093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 AND FUTURE ENHANCEMENT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4BBC45-B701-E29C-AAD5-980AF4852269}"/>
              </a:ext>
            </a:extLst>
          </p:cNvPr>
          <p:cNvSpPr txBox="1"/>
          <p:nvPr/>
        </p:nvSpPr>
        <p:spPr>
          <a:xfrm>
            <a:off x="264367" y="1101011"/>
            <a:ext cx="11663266" cy="5358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Compass AI integrates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analysis, job matching, skill assessment and career guidance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one platform.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transforms a static resume evaluation into a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career preparation process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students identify skill gaps, improve technical knowledge and follow a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roadmap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resume &amp; skill extraction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AI models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improved matching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 generated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assessment questions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learning with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roadmap updates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courses, tutorials and practice resources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dependency graphs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structured learning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Multi-resume / multi-job comparison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analytics dashboard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8B5EDB97-1181-6E3F-85CA-69BCBB74854D}"/>
              </a:ext>
            </a:extLst>
          </p:cNvPr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782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1134</Words>
  <Application>Microsoft Office PowerPoint</Application>
  <PresentationFormat>Widescreen</PresentationFormat>
  <Paragraphs>215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Saravanan K</cp:lastModifiedBy>
  <cp:revision>43</cp:revision>
  <dcterms:created xsi:type="dcterms:W3CDTF">2026-08-19T19:23:55Z</dcterms:created>
  <dcterms:modified xsi:type="dcterms:W3CDTF">2026-09-25T04:15:31Z</dcterms:modified>
</cp:coreProperties>
</file>