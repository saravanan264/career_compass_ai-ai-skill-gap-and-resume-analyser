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embeddedFontLst>
    <p:embeddedFont>
      <p:font typeface="Merriweather Bold" pitchFamily="2" charset="0"/>
      <p:regular r:id="rId8"/>
    </p:embeddedFont>
    <p:embeddedFont>
      <p:font typeface="Merriweather" pitchFamily="2" charset="0"/>
      <p:regular r:id="rId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 /><Relationship Id="rId13"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notesMaster" Target="notesMasters/notesMaster1.xml"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viewProps" Target="viewProps.xml" /><Relationship Id="rId5" Type="http://schemas.openxmlformats.org/officeDocument/2006/relationships/slide" Target="slides/slide4.xml" /><Relationship Id="rId10"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font" Target="fonts/font2.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9704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1.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 /><Relationship Id="rId2" Type="http://schemas.openxmlformats.org/officeDocument/2006/relationships/image" Target="../media/image3.png" /><Relationship Id="rId1" Type="http://schemas.openxmlformats.org/officeDocument/2006/relationships/slideMaster" Target="../slideMasters/slideMaster1.xml" /><Relationship Id="rId4" Type="http://schemas.openxmlformats.org/officeDocument/2006/relationships/image" Target="../media/image2.png"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8" Type="http://schemas.openxmlformats.org/officeDocument/2006/relationships/image" Target="../media/image10.svg" /><Relationship Id="rId3" Type="http://schemas.openxmlformats.org/officeDocument/2006/relationships/image" Target="../media/image5.svg" /><Relationship Id="rId7" Type="http://schemas.openxmlformats.org/officeDocument/2006/relationships/image" Target="../media/image9.svg" /><Relationship Id="rId2" Type="http://schemas.openxmlformats.org/officeDocument/2006/relationships/notesSlide" Target="../notesSlides/notesSlide2.xml" /><Relationship Id="rId1" Type="http://schemas.openxmlformats.org/officeDocument/2006/relationships/slideLayout" Target="../slideLayouts/slideLayout3.xml" /><Relationship Id="rId6" Type="http://schemas.openxmlformats.org/officeDocument/2006/relationships/image" Target="../media/image8.svg" /><Relationship Id="rId5" Type="http://schemas.openxmlformats.org/officeDocument/2006/relationships/image" Target="../media/image7.svg" /><Relationship Id="rId4" Type="http://schemas.openxmlformats.org/officeDocument/2006/relationships/image" Target="../media/image6.svg" /><Relationship Id="rId9" Type="http://schemas.openxmlformats.org/officeDocument/2006/relationships/image" Target="../media/image11.png"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8" Type="http://schemas.openxmlformats.org/officeDocument/2006/relationships/image" Target="../media/image17.svg" /><Relationship Id="rId3" Type="http://schemas.openxmlformats.org/officeDocument/2006/relationships/image" Target="../media/image12.svg" /><Relationship Id="rId7" Type="http://schemas.openxmlformats.org/officeDocument/2006/relationships/image" Target="../media/image16.svg"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15.svg" /><Relationship Id="rId11" Type="http://schemas.openxmlformats.org/officeDocument/2006/relationships/image" Target="../media/image20.svg" /><Relationship Id="rId5" Type="http://schemas.openxmlformats.org/officeDocument/2006/relationships/image" Target="../media/image14.svg" /><Relationship Id="rId10" Type="http://schemas.openxmlformats.org/officeDocument/2006/relationships/image" Target="../media/image19.svg" /><Relationship Id="rId4" Type="http://schemas.openxmlformats.org/officeDocument/2006/relationships/image" Target="../media/image13.svg" /><Relationship Id="rId9" Type="http://schemas.openxmlformats.org/officeDocument/2006/relationships/image" Target="../media/image18.svg" /></Relationships>
</file>

<file path=ppt/slides/_rels/slide5.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Shape 0"/>
          <p:cNvSpPr/>
          <p:nvPr/>
        </p:nvSpPr>
        <p:spPr>
          <a:xfrm>
            <a:off x="3968874" y="480938"/>
            <a:ext cx="2700486" cy="242888"/>
          </a:xfrm>
          <a:prstGeom prst="roundRect">
            <a:avLst>
              <a:gd name="adj" fmla="val 18673"/>
            </a:avLst>
          </a:prstGeom>
          <a:solidFill>
            <a:srgbClr val="001D4D"/>
          </a:solidFill>
          <a:ln/>
        </p:spPr>
      </p:sp>
      <p:sp>
        <p:nvSpPr>
          <p:cNvPr id="4" name="Shape 1"/>
          <p:cNvSpPr/>
          <p:nvPr/>
        </p:nvSpPr>
        <p:spPr>
          <a:xfrm>
            <a:off x="4049837" y="548357"/>
            <a:ext cx="107975" cy="107975"/>
          </a:xfrm>
          <a:prstGeom prst="rect">
            <a:avLst/>
          </a:prstGeom>
          <a:solidFill>
            <a:srgbClr val="E2E6E9"/>
          </a:solidFill>
          <a:ln/>
        </p:spPr>
      </p:sp>
      <p:sp>
        <p:nvSpPr>
          <p:cNvPr id="5" name="Text 2"/>
          <p:cNvSpPr/>
          <p:nvPr/>
        </p:nvSpPr>
        <p:spPr>
          <a:xfrm>
            <a:off x="4211762" y="521419"/>
            <a:ext cx="2833836" cy="161925"/>
          </a:xfrm>
          <a:prstGeom prst="rect">
            <a:avLst/>
          </a:prstGeom>
          <a:noFill/>
          <a:ln/>
        </p:spPr>
        <p:txBody>
          <a:bodyPr wrap="none" lIns="0" tIns="0" rIns="0" bIns="0" rtlCol="0" anchor="t"/>
          <a:lstStyle/>
          <a:p>
            <a:pPr marL="0" indent="0" algn="l">
              <a:lnSpc>
                <a:spcPct val="125000"/>
              </a:lnSpc>
              <a:buNone/>
            </a:pPr>
            <a:r>
              <a:rPr lang="en-US" sz="850" dirty="0">
                <a:solidFill>
                  <a:srgbClr val="E2E6E9"/>
                </a:solidFill>
                <a:latin typeface="Merriweather" pitchFamily="34" charset="0"/>
                <a:ea typeface="Merriweather" pitchFamily="34" charset="-122"/>
                <a:cs typeface="Merriweather" pitchFamily="34" charset="-120"/>
              </a:rPr>
              <a:t>ARTIFICIAL INTELLIGENCE &amp; DATA SCIENCE</a:t>
            </a:r>
            <a:endParaRPr lang="en-US" sz="850" dirty="0"/>
          </a:p>
        </p:txBody>
      </p:sp>
      <p:sp>
        <p:nvSpPr>
          <p:cNvPr id="6" name="Text 3"/>
          <p:cNvSpPr/>
          <p:nvPr/>
        </p:nvSpPr>
        <p:spPr>
          <a:xfrm>
            <a:off x="3968874" y="771004"/>
            <a:ext cx="4635252" cy="843558"/>
          </a:xfrm>
          <a:prstGeom prst="rect">
            <a:avLst/>
          </a:prstGeom>
          <a:noFill/>
          <a:ln/>
        </p:spPr>
        <p:txBody>
          <a:bodyPr wrap="square" lIns="0" tIns="0" rIns="0" bIns="0" rtlCol="0" anchor="t">
            <a:normAutofit/>
          </a:bodyPr>
          <a:lstStyle/>
          <a:p>
            <a:pPr marL="0" indent="0" algn="l">
              <a:lnSpc>
                <a:spcPct val="104000"/>
              </a:lnSpc>
              <a:buNone/>
            </a:pPr>
            <a:r>
              <a:rPr lang="en-US" sz="2650" dirty="0">
                <a:solidFill>
                  <a:srgbClr val="F5F0F0"/>
                </a:solidFill>
                <a:latin typeface="Merriweather" pitchFamily="34" charset="0"/>
                <a:ea typeface="Merriweather" pitchFamily="34" charset="-122"/>
                <a:cs typeface="Merriweather" pitchFamily="34" charset="-120"/>
              </a:rPr>
              <a:t>AI Skill Gap Analyzer and Resume Analysis</a:t>
            </a:r>
            <a:endParaRPr lang="en-US" sz="2650" dirty="0"/>
          </a:p>
        </p:txBody>
      </p:sp>
      <p:sp>
        <p:nvSpPr>
          <p:cNvPr id="7" name="Text 4"/>
          <p:cNvSpPr/>
          <p:nvPr/>
        </p:nvSpPr>
        <p:spPr>
          <a:xfrm>
            <a:off x="3968874" y="1791667"/>
            <a:ext cx="4635252" cy="506016"/>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E2E6E9"/>
                </a:solidFill>
                <a:latin typeface="Merriweather" pitchFamily="34" charset="0"/>
                <a:ea typeface="Merriweather" pitchFamily="34" charset="-122"/>
                <a:cs typeface="Merriweather" pitchFamily="34" charset="-120"/>
              </a:rPr>
              <a:t>An AI-powered system for intelligent resume analysis, skill gap detection, and personalised learning roadmaps.</a:t>
            </a:r>
            <a:endParaRPr lang="en-US" sz="1300" dirty="0"/>
          </a:p>
        </p:txBody>
      </p:sp>
      <p:sp>
        <p:nvSpPr>
          <p:cNvPr id="8" name="Shape 5"/>
          <p:cNvSpPr/>
          <p:nvPr/>
        </p:nvSpPr>
        <p:spPr>
          <a:xfrm>
            <a:off x="3968874" y="2464222"/>
            <a:ext cx="4635252" cy="19050"/>
          </a:xfrm>
          <a:prstGeom prst="roundRect">
            <a:avLst>
              <a:gd name="adj" fmla="val 60000"/>
            </a:avLst>
          </a:prstGeom>
          <a:solidFill>
            <a:srgbClr val="E2E6E9">
              <a:alpha val="50000"/>
            </a:srgbClr>
          </a:solidFill>
          <a:ln/>
        </p:spPr>
      </p:sp>
      <p:sp>
        <p:nvSpPr>
          <p:cNvPr id="9" name="Text 6"/>
          <p:cNvSpPr/>
          <p:nvPr/>
        </p:nvSpPr>
        <p:spPr>
          <a:xfrm>
            <a:off x="3968874" y="2767905"/>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Institution</a:t>
            </a:r>
            <a:endParaRPr lang="en-US" sz="1300" dirty="0"/>
          </a:p>
        </p:txBody>
      </p:sp>
      <p:sp>
        <p:nvSpPr>
          <p:cNvPr id="10" name="Text 7"/>
          <p:cNvSpPr/>
          <p:nvPr/>
        </p:nvSpPr>
        <p:spPr>
          <a:xfrm>
            <a:off x="3968874" y="3096816"/>
            <a:ext cx="2152948" cy="404961"/>
          </a:xfrm>
          <a:prstGeom prst="rect">
            <a:avLst/>
          </a:prstGeom>
          <a:noFill/>
          <a:ln/>
        </p:spPr>
        <p:txBody>
          <a:bodyPr wrap="square" lIns="0" tIns="0" rIns="0" bIns="0" rtlCol="0" anchor="t">
            <a:normAutofit/>
          </a:bodyPr>
          <a:lstStyle/>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P.S.R Engineering College, Sivakasi</a:t>
            </a:r>
            <a:endParaRPr lang="en-US" sz="1050" dirty="0"/>
          </a:p>
        </p:txBody>
      </p:sp>
      <p:sp>
        <p:nvSpPr>
          <p:cNvPr id="11" name="Text 8"/>
          <p:cNvSpPr/>
          <p:nvPr/>
        </p:nvSpPr>
        <p:spPr>
          <a:xfrm>
            <a:off x="3968874" y="3619872"/>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Academic Year</a:t>
            </a:r>
            <a:endParaRPr lang="en-US" sz="1300" dirty="0"/>
          </a:p>
        </p:txBody>
      </p:sp>
      <p:sp>
        <p:nvSpPr>
          <p:cNvPr id="12" name="Text 9"/>
          <p:cNvSpPr/>
          <p:nvPr/>
        </p:nvSpPr>
        <p:spPr>
          <a:xfrm>
            <a:off x="3968874" y="3948782"/>
            <a:ext cx="2610148" cy="202481"/>
          </a:xfrm>
          <a:prstGeom prst="rect">
            <a:avLst/>
          </a:prstGeom>
          <a:noFill/>
          <a:ln/>
        </p:spPr>
        <p:txBody>
          <a:bodyPr wrap="none" lIns="0" tIns="0" rIns="0" bIns="0" rtlCol="0" anchor="t"/>
          <a:lstStyle/>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2026 – 2027</a:t>
            </a:r>
            <a:endParaRPr lang="en-US" sz="1050" dirty="0"/>
          </a:p>
        </p:txBody>
      </p:sp>
      <p:sp>
        <p:nvSpPr>
          <p:cNvPr id="13" name="Text 10"/>
          <p:cNvSpPr/>
          <p:nvPr/>
        </p:nvSpPr>
        <p:spPr>
          <a:xfrm>
            <a:off x="6455941" y="2767905"/>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Submitted By</a:t>
            </a:r>
            <a:endParaRPr lang="en-US" sz="1300" dirty="0"/>
          </a:p>
        </p:txBody>
      </p:sp>
      <p:sp>
        <p:nvSpPr>
          <p:cNvPr id="14" name="Text 11"/>
          <p:cNvSpPr/>
          <p:nvPr/>
        </p:nvSpPr>
        <p:spPr>
          <a:xfrm>
            <a:off x="6455941" y="3096816"/>
            <a:ext cx="2152948" cy="809923"/>
          </a:xfrm>
          <a:prstGeom prst="rect">
            <a:avLst/>
          </a:prstGeom>
          <a:noFill/>
          <a:ln/>
        </p:spPr>
        <p:txBody>
          <a:bodyPr wrap="square" lIns="0" tIns="0" rIns="0" bIns="0" rtlCol="0" anchor="t">
            <a:normAutofit/>
          </a:bodyPr>
          <a:lstStyle/>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Saravanan K (23AD045)</a:t>
            </a:r>
            <a:endParaRPr lang="en-US" sz="1050" dirty="0"/>
          </a:p>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Mathan M (23AD024)</a:t>
            </a:r>
            <a:endParaRPr lang="en-US" sz="1050" dirty="0"/>
          </a:p>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Logesh K (23AD023)</a:t>
            </a:r>
            <a:endParaRPr lang="en-US" sz="1050" dirty="0"/>
          </a:p>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Kavutham M (23AD017)</a:t>
            </a:r>
            <a:endParaRPr lang="en-US" sz="1050" dirty="0"/>
          </a:p>
        </p:txBody>
      </p:sp>
      <p:sp>
        <p:nvSpPr>
          <p:cNvPr id="15" name="Text 12"/>
          <p:cNvSpPr/>
          <p:nvPr/>
        </p:nvSpPr>
        <p:spPr>
          <a:xfrm>
            <a:off x="6455941" y="4024833"/>
            <a:ext cx="2144464" cy="210815"/>
          </a:xfrm>
          <a:prstGeom prst="rect">
            <a:avLst/>
          </a:prstGeom>
          <a:noFill/>
          <a:ln/>
        </p:spPr>
        <p:txBody>
          <a:bodyPr wrap="none" lIns="0" tIns="0" rIns="0" bIns="0" rtlCol="0" anchor="t"/>
          <a:lstStyle/>
          <a:p>
            <a:pPr marL="0" indent="0" algn="l">
              <a:lnSpc>
                <a:spcPct val="104000"/>
              </a:lnSpc>
              <a:buNone/>
            </a:pPr>
            <a:r>
              <a:rPr lang="en-US" sz="1300" dirty="0">
                <a:solidFill>
                  <a:srgbClr val="F5F0F0"/>
                </a:solidFill>
                <a:latin typeface="Merriweather" pitchFamily="34" charset="0"/>
                <a:ea typeface="Merriweather" pitchFamily="34" charset="-122"/>
                <a:cs typeface="Merriweather" pitchFamily="34" charset="-120"/>
              </a:rPr>
              <a:t>Project Guide</a:t>
            </a:r>
            <a:endParaRPr lang="en-US" sz="1300" dirty="0"/>
          </a:p>
        </p:txBody>
      </p:sp>
      <p:sp>
        <p:nvSpPr>
          <p:cNvPr id="16" name="Text 13"/>
          <p:cNvSpPr/>
          <p:nvPr/>
        </p:nvSpPr>
        <p:spPr>
          <a:xfrm>
            <a:off x="6455941" y="4353744"/>
            <a:ext cx="2610148" cy="202481"/>
          </a:xfrm>
          <a:prstGeom prst="rect">
            <a:avLst/>
          </a:prstGeom>
          <a:noFill/>
          <a:ln/>
        </p:spPr>
        <p:txBody>
          <a:bodyPr wrap="none" lIns="0" tIns="0" rIns="0" bIns="0" rtlCol="0" anchor="t"/>
          <a:lstStyle/>
          <a:p>
            <a:pPr marL="0" indent="0" algn="l">
              <a:lnSpc>
                <a:spcPct val="125000"/>
              </a:lnSpc>
              <a:buNone/>
            </a:pPr>
            <a:r>
              <a:rPr lang="en-US" sz="1050" dirty="0">
                <a:solidFill>
                  <a:srgbClr val="E2E6E9"/>
                </a:solidFill>
                <a:latin typeface="Merriweather" pitchFamily="34" charset="0"/>
                <a:ea typeface="Merriweather" pitchFamily="34" charset="-122"/>
                <a:cs typeface="Merriweather" pitchFamily="34" charset="-120"/>
              </a:rPr>
              <a:t>Mrs. Devi Nandhini</a:t>
            </a:r>
            <a:endParaRPr lang="en-US" sz="1050" dirty="0"/>
          </a:p>
        </p:txBody>
      </p:sp>
      <p:sp>
        <p:nvSpPr>
          <p:cNvPr id="18" name="Rectangle: Rounded Corners 17">
            <a:extLst>
              <a:ext uri="{FF2B5EF4-FFF2-40B4-BE49-F238E27FC236}">
                <a16:creationId xmlns:a16="http://schemas.microsoft.com/office/drawing/2014/main" id="{484C2824-0266-4063-DC6B-E78A2FF102E8}"/>
              </a:ext>
            </a:extLst>
          </p:cNvPr>
          <p:cNvSpPr/>
          <p:nvPr/>
        </p:nvSpPr>
        <p:spPr>
          <a:xfrm>
            <a:off x="8066102" y="4867422"/>
            <a:ext cx="1068606" cy="202481"/>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Rounded Corners 18">
            <a:extLst>
              <a:ext uri="{FF2B5EF4-FFF2-40B4-BE49-F238E27FC236}">
                <a16:creationId xmlns:a16="http://schemas.microsoft.com/office/drawing/2014/main" id="{AFBA4987-D08A-27BA-556D-FAF6C6F98FD4}"/>
              </a:ext>
            </a:extLst>
          </p:cNvPr>
          <p:cNvSpPr/>
          <p:nvPr/>
        </p:nvSpPr>
        <p:spPr>
          <a:xfrm>
            <a:off x="3434301" y="4867421"/>
            <a:ext cx="1069145" cy="223843"/>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39874" y="480938"/>
            <a:ext cx="927795" cy="188491"/>
          </a:xfrm>
          <a:prstGeom prst="roundRect">
            <a:avLst>
              <a:gd name="adj" fmla="val 19766"/>
            </a:avLst>
          </a:prstGeom>
          <a:solidFill>
            <a:srgbClr val="001D4D"/>
          </a:solidFill>
          <a:ln/>
        </p:spPr>
      </p:sp>
      <p:sp>
        <p:nvSpPr>
          <p:cNvPr id="3" name="Text 1"/>
          <p:cNvSpPr/>
          <p:nvPr/>
        </p:nvSpPr>
        <p:spPr>
          <a:xfrm>
            <a:off x="606400" y="514201"/>
            <a:ext cx="1251942" cy="121965"/>
          </a:xfrm>
          <a:prstGeom prst="rect">
            <a:avLst/>
          </a:prstGeom>
          <a:noFill/>
          <a:ln/>
        </p:spPr>
        <p:txBody>
          <a:bodyPr wrap="none" lIns="0" tIns="0" rIns="0" bIns="0" rtlCol="0" anchor="t"/>
          <a:lstStyle/>
          <a:p>
            <a:pPr marL="0" indent="0" algn="l">
              <a:lnSpc>
                <a:spcPct val="115000"/>
              </a:lnSpc>
              <a:buNone/>
            </a:pPr>
            <a:r>
              <a:rPr lang="en-US" sz="650" dirty="0">
                <a:solidFill>
                  <a:srgbClr val="E2E6E9"/>
                </a:solidFill>
                <a:latin typeface="Merriweather" pitchFamily="34" charset="0"/>
                <a:ea typeface="Merriweather" pitchFamily="34" charset="-122"/>
                <a:cs typeface="Merriweather" pitchFamily="34" charset="-120"/>
              </a:rPr>
              <a:t>PROJECT DOMAIN</a:t>
            </a:r>
            <a:endParaRPr lang="en-US" sz="650" dirty="0"/>
          </a:p>
        </p:txBody>
      </p:sp>
      <p:sp>
        <p:nvSpPr>
          <p:cNvPr id="4" name="Text 2"/>
          <p:cNvSpPr/>
          <p:nvPr/>
        </p:nvSpPr>
        <p:spPr>
          <a:xfrm>
            <a:off x="539874" y="701278"/>
            <a:ext cx="3492029" cy="277192"/>
          </a:xfrm>
          <a:prstGeom prst="rect">
            <a:avLst/>
          </a:prstGeom>
          <a:noFill/>
          <a:ln/>
        </p:spPr>
        <p:txBody>
          <a:bodyPr wrap="none" lIns="0" tIns="0" rIns="0" bIns="0" rtlCol="0" anchor="t"/>
          <a:lstStyle/>
          <a:p>
            <a:pPr marL="0" indent="0" algn="l">
              <a:lnSpc>
                <a:spcPct val="104000"/>
              </a:lnSpc>
              <a:buNone/>
            </a:pPr>
            <a:r>
              <a:rPr lang="en-US" sz="1700" dirty="0">
                <a:solidFill>
                  <a:srgbClr val="F5F0F0"/>
                </a:solidFill>
                <a:latin typeface="Merriweather" pitchFamily="34" charset="0"/>
                <a:ea typeface="Merriweather" pitchFamily="34" charset="-122"/>
                <a:cs typeface="Merriweather" pitchFamily="34" charset="-120"/>
              </a:rPr>
              <a:t>Domain &amp; Technology Stack</a:t>
            </a:r>
            <a:endParaRPr lang="en-US" sz="1700" dirty="0"/>
          </a:p>
        </p:txBody>
      </p:sp>
      <p:sp>
        <p:nvSpPr>
          <p:cNvPr id="5" name="Text 3"/>
          <p:cNvSpPr/>
          <p:nvPr/>
        </p:nvSpPr>
        <p:spPr>
          <a:xfrm>
            <a:off x="539874" y="1097979"/>
            <a:ext cx="8064252" cy="3048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The project spans multiple AI sub-domains, combining NLP-driven parsing with machine learning to power an intelligent recommendation and skill-gap analysis system.</a:t>
            </a:r>
            <a:endParaRPr lang="en-US" sz="8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492374"/>
            <a:ext cx="277192" cy="277192"/>
          </a:xfrm>
          <a:prstGeom prst="rect">
            <a:avLst/>
          </a:prstGeom>
        </p:spPr>
      </p:pic>
      <p:sp>
        <p:nvSpPr>
          <p:cNvPr id="7" name="Text 4"/>
          <p:cNvSpPr/>
          <p:nvPr/>
        </p:nvSpPr>
        <p:spPr>
          <a:xfrm>
            <a:off x="539874" y="1869132"/>
            <a:ext cx="1403524"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Artificial Intelligence</a:t>
            </a:r>
            <a:endParaRPr lang="en-US" sz="1050" dirty="0"/>
          </a:p>
        </p:txBody>
      </p:sp>
      <p:sp>
        <p:nvSpPr>
          <p:cNvPr id="8" name="Text 5"/>
          <p:cNvSpPr/>
          <p:nvPr/>
        </p:nvSpPr>
        <p:spPr>
          <a:xfrm>
            <a:off x="539874" y="2090142"/>
            <a:ext cx="3982343" cy="152400"/>
          </a:xfrm>
          <a:prstGeom prst="rect">
            <a:avLst/>
          </a:prstGeom>
          <a:noFill/>
          <a:ln/>
        </p:spPr>
        <p:txBody>
          <a:bodyPr wrap="none" lIns="0" tIns="0" rIns="0" bIns="0" rtlCol="0" anchor="t"/>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Core intelligence powering the full analysis pipeline.</a:t>
            </a:r>
            <a:endParaRPr lang="en-US" sz="8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1783" y="1492374"/>
            <a:ext cx="277192" cy="277192"/>
          </a:xfrm>
          <a:prstGeom prst="rect">
            <a:avLst/>
          </a:prstGeom>
        </p:spPr>
      </p:pic>
      <p:sp>
        <p:nvSpPr>
          <p:cNvPr id="10" name="Text 6"/>
          <p:cNvSpPr/>
          <p:nvPr/>
        </p:nvSpPr>
        <p:spPr>
          <a:xfrm>
            <a:off x="4621783" y="1869132"/>
            <a:ext cx="1946077"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Natural Language Processing</a:t>
            </a:r>
            <a:endParaRPr lang="en-US" sz="1050" dirty="0"/>
          </a:p>
        </p:txBody>
      </p:sp>
      <p:sp>
        <p:nvSpPr>
          <p:cNvPr id="11" name="Text 7"/>
          <p:cNvSpPr/>
          <p:nvPr/>
        </p:nvSpPr>
        <p:spPr>
          <a:xfrm>
            <a:off x="4621783" y="2090142"/>
            <a:ext cx="3982343" cy="304800"/>
          </a:xfrm>
          <a:prstGeom prst="rect">
            <a:avLst/>
          </a:prstGeom>
          <a:noFill/>
          <a:ln/>
        </p:spPr>
        <p:txBody>
          <a:bodyPr wrap="square" lIns="0" tIns="0" rIns="0" bIns="0" rtlCol="0" anchor="t">
            <a:normAutofit/>
          </a:bodyPr>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Understanding and extracting meaning from resumes and job descriptions.</a:t>
            </a:r>
            <a:endParaRPr lang="en-US" sz="8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9874" y="2554263"/>
            <a:ext cx="277192" cy="277192"/>
          </a:xfrm>
          <a:prstGeom prst="rect">
            <a:avLst/>
          </a:prstGeom>
        </p:spPr>
      </p:pic>
      <p:sp>
        <p:nvSpPr>
          <p:cNvPr id="13" name="Text 8"/>
          <p:cNvSpPr/>
          <p:nvPr/>
        </p:nvSpPr>
        <p:spPr>
          <a:xfrm>
            <a:off x="539874" y="2931021"/>
            <a:ext cx="1385962"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Resume Parsing</a:t>
            </a:r>
            <a:endParaRPr lang="en-US" sz="1050" dirty="0"/>
          </a:p>
        </p:txBody>
      </p:sp>
      <p:sp>
        <p:nvSpPr>
          <p:cNvPr id="14" name="Text 9"/>
          <p:cNvSpPr/>
          <p:nvPr/>
        </p:nvSpPr>
        <p:spPr>
          <a:xfrm>
            <a:off x="539874" y="3152031"/>
            <a:ext cx="3982343" cy="152400"/>
          </a:xfrm>
          <a:prstGeom prst="rect">
            <a:avLst/>
          </a:prstGeom>
          <a:noFill/>
          <a:ln/>
        </p:spPr>
        <p:txBody>
          <a:bodyPr wrap="none" lIns="0" tIns="0" rIns="0" bIns="0" rtlCol="0" anchor="t"/>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Structured extraction of candidate skills, experience, and education.</a:t>
            </a:r>
            <a:endParaRPr lang="en-US" sz="8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21783" y="2554263"/>
            <a:ext cx="277192" cy="277192"/>
          </a:xfrm>
          <a:prstGeom prst="rect">
            <a:avLst/>
          </a:prstGeom>
        </p:spPr>
      </p:pic>
      <p:sp>
        <p:nvSpPr>
          <p:cNvPr id="16" name="Text 10"/>
          <p:cNvSpPr/>
          <p:nvPr/>
        </p:nvSpPr>
        <p:spPr>
          <a:xfrm>
            <a:off x="4621783" y="2931021"/>
            <a:ext cx="1623268"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Job Description Analysis</a:t>
            </a:r>
            <a:endParaRPr lang="en-US" sz="1050" dirty="0"/>
          </a:p>
        </p:txBody>
      </p:sp>
      <p:sp>
        <p:nvSpPr>
          <p:cNvPr id="17" name="Text 11"/>
          <p:cNvSpPr/>
          <p:nvPr/>
        </p:nvSpPr>
        <p:spPr>
          <a:xfrm>
            <a:off x="4621783" y="3152031"/>
            <a:ext cx="3982343" cy="152400"/>
          </a:xfrm>
          <a:prstGeom prst="rect">
            <a:avLst/>
          </a:prstGeom>
          <a:noFill/>
          <a:ln/>
        </p:spPr>
        <p:txBody>
          <a:bodyPr wrap="none" lIns="0" tIns="0" rIns="0" bIns="0" rtlCol="0" anchor="t"/>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Identifying required skills and competencies from employer postings.</a:t>
            </a:r>
            <a:endParaRPr lang="en-US" sz="8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9874" y="3463751"/>
            <a:ext cx="277192" cy="277192"/>
          </a:xfrm>
          <a:prstGeom prst="rect">
            <a:avLst/>
          </a:prstGeom>
        </p:spPr>
      </p:pic>
      <p:sp>
        <p:nvSpPr>
          <p:cNvPr id="19" name="Text 12"/>
          <p:cNvSpPr/>
          <p:nvPr/>
        </p:nvSpPr>
        <p:spPr>
          <a:xfrm>
            <a:off x="539874" y="3840510"/>
            <a:ext cx="1385962"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Skill Gap Analysis</a:t>
            </a:r>
            <a:endParaRPr lang="en-US" sz="1050" dirty="0"/>
          </a:p>
        </p:txBody>
      </p:sp>
      <p:sp>
        <p:nvSpPr>
          <p:cNvPr id="20" name="Text 13"/>
          <p:cNvSpPr/>
          <p:nvPr/>
        </p:nvSpPr>
        <p:spPr>
          <a:xfrm>
            <a:off x="539874" y="4061520"/>
            <a:ext cx="3982343" cy="152400"/>
          </a:xfrm>
          <a:prstGeom prst="rect">
            <a:avLst/>
          </a:prstGeom>
          <a:noFill/>
          <a:ln/>
        </p:spPr>
        <p:txBody>
          <a:bodyPr wrap="none" lIns="0" tIns="0" rIns="0" bIns="0" rtlCol="0" anchor="t"/>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Detecting missing competencies between candidate and role.</a:t>
            </a:r>
            <a:endParaRPr lang="en-US" sz="85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21783" y="3463751"/>
            <a:ext cx="277192" cy="277192"/>
          </a:xfrm>
          <a:prstGeom prst="rect">
            <a:avLst/>
          </a:prstGeom>
        </p:spPr>
      </p:pic>
      <p:sp>
        <p:nvSpPr>
          <p:cNvPr id="22" name="Text 14"/>
          <p:cNvSpPr/>
          <p:nvPr/>
        </p:nvSpPr>
        <p:spPr>
          <a:xfrm>
            <a:off x="4621783" y="3840510"/>
            <a:ext cx="1708919" cy="173236"/>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Recommendation System</a:t>
            </a:r>
            <a:endParaRPr lang="en-US" sz="1050" dirty="0"/>
          </a:p>
        </p:txBody>
      </p:sp>
      <p:sp>
        <p:nvSpPr>
          <p:cNvPr id="23" name="Text 15"/>
          <p:cNvSpPr/>
          <p:nvPr/>
        </p:nvSpPr>
        <p:spPr>
          <a:xfrm>
            <a:off x="4621783" y="4061520"/>
            <a:ext cx="3982343" cy="152400"/>
          </a:xfrm>
          <a:prstGeom prst="rect">
            <a:avLst/>
          </a:prstGeom>
          <a:noFill/>
          <a:ln/>
        </p:spPr>
        <p:txBody>
          <a:bodyPr wrap="none" lIns="0" tIns="0" rIns="0" bIns="0" rtlCol="0" anchor="t"/>
          <a:lstStyle/>
          <a:p>
            <a:pPr marL="0" indent="0" algn="l">
              <a:lnSpc>
                <a:spcPct val="115000"/>
              </a:lnSpc>
              <a:buNone/>
            </a:pPr>
            <a:r>
              <a:rPr lang="en-US" sz="850" dirty="0">
                <a:solidFill>
                  <a:srgbClr val="E2E6E9"/>
                </a:solidFill>
                <a:latin typeface="Merriweather" pitchFamily="34" charset="0"/>
                <a:ea typeface="Merriweather" pitchFamily="34" charset="-122"/>
                <a:cs typeface="Merriweather" pitchFamily="34" charset="-120"/>
              </a:rPr>
              <a:t>Generating personalised learning roadmaps to bridge gaps.</a:t>
            </a:r>
            <a:endParaRPr lang="en-US" sz="850" dirty="0"/>
          </a:p>
        </p:txBody>
      </p:sp>
      <p:sp>
        <p:nvSpPr>
          <p:cNvPr id="24" name="Shape 16"/>
          <p:cNvSpPr/>
          <p:nvPr/>
        </p:nvSpPr>
        <p:spPr>
          <a:xfrm>
            <a:off x="539874" y="4303514"/>
            <a:ext cx="8064252" cy="359048"/>
          </a:xfrm>
          <a:prstGeom prst="roundRect">
            <a:avLst>
              <a:gd name="adj" fmla="val 12970"/>
            </a:avLst>
          </a:prstGeom>
          <a:solidFill>
            <a:srgbClr val="003180"/>
          </a:solidFill>
          <a:ln/>
        </p:spPr>
      </p:sp>
      <p:pic>
        <p:nvPicPr>
          <p:cNvPr id="25" name="Image 6" descr="preencoded.png"/>
          <p:cNvPicPr>
            <a:picLocks noChangeAspect="1"/>
          </p:cNvPicPr>
          <p:nvPr/>
        </p:nvPicPr>
        <p:blipFill>
          <a:blip r:embed="rId9"/>
          <a:stretch>
            <a:fillRect/>
          </a:stretch>
        </p:blipFill>
        <p:spPr>
          <a:xfrm>
            <a:off x="650751" y="4449812"/>
            <a:ext cx="138559" cy="110877"/>
          </a:xfrm>
          <a:prstGeom prst="rect">
            <a:avLst/>
          </a:prstGeom>
        </p:spPr>
      </p:pic>
      <p:sp>
        <p:nvSpPr>
          <p:cNvPr id="26" name="Text 17"/>
          <p:cNvSpPr/>
          <p:nvPr/>
        </p:nvSpPr>
        <p:spPr>
          <a:xfrm>
            <a:off x="900187" y="4410819"/>
            <a:ext cx="8050262" cy="152400"/>
          </a:xfrm>
          <a:prstGeom prst="rect">
            <a:avLst/>
          </a:prstGeom>
          <a:noFill/>
          <a:ln/>
        </p:spPr>
        <p:txBody>
          <a:bodyPr wrap="none" lIns="0" tIns="0" rIns="0" bIns="0" rtlCol="0" anchor="t"/>
          <a:lstStyle/>
          <a:p>
            <a:pPr marL="0" indent="0" algn="l">
              <a:lnSpc>
                <a:spcPct val="115000"/>
              </a:lnSpc>
              <a:buNone/>
            </a:pPr>
            <a:r>
              <a:rPr lang="en-US" sz="850" b="1" dirty="0">
                <a:solidFill>
                  <a:srgbClr val="FFFFFF"/>
                </a:solidFill>
                <a:latin typeface="Merriweather Bold" pitchFamily="34" charset="0"/>
                <a:ea typeface="Merriweather Bold" pitchFamily="34" charset="-122"/>
                <a:cs typeface="Merriweather Bold" pitchFamily="34" charset="-120"/>
              </a:rPr>
              <a:t>Technologies:</a:t>
            </a:r>
            <a:r>
              <a:rPr lang="en-US" sz="850" dirty="0">
                <a:solidFill>
                  <a:srgbClr val="FFFFFF"/>
                </a:solidFill>
                <a:latin typeface="Merriweather" pitchFamily="34" charset="0"/>
                <a:ea typeface="Merriweather" pitchFamily="34" charset="-122"/>
                <a:cs typeface="Merriweather" pitchFamily="34" charset="-120"/>
              </a:rPr>
              <a:t> Python · React.js · FastAPI / Flask · PostgreSQL · spaCy · Transformers</a:t>
            </a:r>
            <a:endParaRPr lang="en-US" sz="850" dirty="0"/>
          </a:p>
        </p:txBody>
      </p:sp>
      <p:sp>
        <p:nvSpPr>
          <p:cNvPr id="27" name="Rectangle: Rounded Corners 26">
            <a:extLst>
              <a:ext uri="{FF2B5EF4-FFF2-40B4-BE49-F238E27FC236}">
                <a16:creationId xmlns:a16="http://schemas.microsoft.com/office/drawing/2014/main" id="{3C69B0E6-97EC-888A-CECD-0DC98861EF14}"/>
              </a:ext>
            </a:extLst>
          </p:cNvPr>
          <p:cNvSpPr/>
          <p:nvPr/>
        </p:nvSpPr>
        <p:spPr>
          <a:xfrm>
            <a:off x="8004517" y="4867422"/>
            <a:ext cx="1083212" cy="218049"/>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lumMod val="10000"/>
                </a:schemeClr>
              </a:solidFill>
            </a:endParaRPr>
          </a:p>
        </p:txBody>
      </p:sp>
      <p:sp>
        <p:nvSpPr>
          <p:cNvPr id="28" name="Rectangle: Rounded Corners 27">
            <a:extLst>
              <a:ext uri="{FF2B5EF4-FFF2-40B4-BE49-F238E27FC236}">
                <a16:creationId xmlns:a16="http://schemas.microsoft.com/office/drawing/2014/main" id="{9B99A8CF-6AF2-46F0-1263-8E51F63605DF}"/>
              </a:ext>
            </a:extLst>
          </p:cNvPr>
          <p:cNvSpPr/>
          <p:nvPr/>
        </p:nvSpPr>
        <p:spPr>
          <a:xfrm>
            <a:off x="71827" y="77327"/>
            <a:ext cx="1069145" cy="296146"/>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39874" y="452810"/>
            <a:ext cx="1250231" cy="226070"/>
          </a:xfrm>
          <a:prstGeom prst="roundRect">
            <a:avLst>
              <a:gd name="adj" fmla="val 18988"/>
            </a:avLst>
          </a:prstGeom>
          <a:solidFill>
            <a:srgbClr val="001D4D"/>
          </a:solidFill>
          <a:ln/>
        </p:spPr>
      </p:sp>
      <p:sp>
        <p:nvSpPr>
          <p:cNvPr id="3" name="Text 1"/>
          <p:cNvSpPr/>
          <p:nvPr/>
        </p:nvSpPr>
        <p:spPr>
          <a:xfrm>
            <a:off x="616521" y="491133"/>
            <a:ext cx="1554138" cy="149423"/>
          </a:xfrm>
          <a:prstGeom prst="rect">
            <a:avLst/>
          </a:prstGeom>
          <a:noFill/>
          <a:ln/>
        </p:spPr>
        <p:txBody>
          <a:bodyPr wrap="none" lIns="0" tIns="0" rIns="0" bIns="0" rtlCol="0" anchor="t"/>
          <a:lstStyle/>
          <a:p>
            <a:pPr marL="0" indent="0" algn="l">
              <a:lnSpc>
                <a:spcPct val="122000"/>
              </a:lnSpc>
              <a:buNone/>
            </a:pPr>
            <a:r>
              <a:rPr lang="en-US" sz="800" dirty="0">
                <a:solidFill>
                  <a:srgbClr val="E2E6E9"/>
                </a:solidFill>
                <a:latin typeface="Merriweather" pitchFamily="34" charset="0"/>
                <a:ea typeface="Merriweather" pitchFamily="34" charset="-122"/>
                <a:cs typeface="Merriweather" pitchFamily="34" charset="-120"/>
              </a:rPr>
              <a:t>LITERATURE REVIEW</a:t>
            </a:r>
            <a:endParaRPr lang="en-US" sz="800" dirty="0"/>
          </a:p>
        </p:txBody>
      </p:sp>
      <p:sp>
        <p:nvSpPr>
          <p:cNvPr id="4" name="Text 2"/>
          <p:cNvSpPr/>
          <p:nvPr/>
        </p:nvSpPr>
        <p:spPr>
          <a:xfrm>
            <a:off x="539874" y="721147"/>
            <a:ext cx="4602287" cy="319385"/>
          </a:xfrm>
          <a:prstGeom prst="rect">
            <a:avLst/>
          </a:prstGeom>
          <a:noFill/>
          <a:ln/>
        </p:spPr>
        <p:txBody>
          <a:bodyPr wrap="none" lIns="0" tIns="0" rIns="0" bIns="0" rtlCol="0" anchor="t"/>
          <a:lstStyle/>
          <a:p>
            <a:pPr marL="0" indent="0" algn="l">
              <a:lnSpc>
                <a:spcPct val="104000"/>
              </a:lnSpc>
              <a:buNone/>
            </a:pPr>
            <a:r>
              <a:rPr lang="en-US" sz="2000" dirty="0">
                <a:solidFill>
                  <a:srgbClr val="F5F0F0"/>
                </a:solidFill>
                <a:latin typeface="Merriweather" pitchFamily="34" charset="0"/>
                <a:ea typeface="Merriweather" pitchFamily="34" charset="-122"/>
                <a:cs typeface="Merriweather" pitchFamily="34" charset="-120"/>
              </a:rPr>
              <a:t>Base Papers &amp; Our Enhancements</a:t>
            </a:r>
            <a:endParaRPr lang="en-US" sz="2000" dirty="0"/>
          </a:p>
        </p:txBody>
      </p:sp>
      <p:sp>
        <p:nvSpPr>
          <p:cNvPr id="5" name="Text 3"/>
          <p:cNvSpPr/>
          <p:nvPr/>
        </p:nvSpPr>
        <p:spPr>
          <a:xfrm>
            <a:off x="539874" y="1199183"/>
            <a:ext cx="8064252" cy="373707"/>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Three foundational papers informed our approach. Each contribution was extended with skill gap detection, AI mock assessments, and personalised roadmaps.</a:t>
            </a:r>
            <a:endParaRPr lang="en-US" sz="1000" dirty="0"/>
          </a:p>
        </p:txBody>
      </p:sp>
      <p:sp>
        <p:nvSpPr>
          <p:cNvPr id="6" name="Shape 4"/>
          <p:cNvSpPr/>
          <p:nvPr/>
        </p:nvSpPr>
        <p:spPr>
          <a:xfrm>
            <a:off x="539874" y="1691878"/>
            <a:ext cx="8064252" cy="2998812"/>
          </a:xfrm>
          <a:prstGeom prst="roundRect">
            <a:avLst>
              <a:gd name="adj" fmla="val 1789"/>
            </a:avLst>
          </a:prstGeom>
          <a:noFill/>
          <a:ln w="4763">
            <a:solidFill>
              <a:srgbClr val="FFFFFF">
                <a:alpha val="24000"/>
              </a:srgbClr>
            </a:solidFill>
            <a:prstDash val="solid"/>
          </a:ln>
        </p:spPr>
      </p:sp>
      <p:sp>
        <p:nvSpPr>
          <p:cNvPr id="7" name="Shape 5"/>
          <p:cNvSpPr/>
          <p:nvPr/>
        </p:nvSpPr>
        <p:spPr>
          <a:xfrm>
            <a:off x="544785" y="1696641"/>
            <a:ext cx="2416373" cy="325710"/>
          </a:xfrm>
          <a:prstGeom prst="rect">
            <a:avLst/>
          </a:prstGeom>
          <a:solidFill>
            <a:srgbClr val="013180"/>
          </a:solidFill>
          <a:ln/>
        </p:spPr>
      </p:sp>
      <p:sp>
        <p:nvSpPr>
          <p:cNvPr id="8" name="Text 6"/>
          <p:cNvSpPr/>
          <p:nvPr/>
        </p:nvSpPr>
        <p:spPr>
          <a:xfrm>
            <a:off x="672480" y="1764878"/>
            <a:ext cx="2618184" cy="186854"/>
          </a:xfrm>
          <a:prstGeom prst="rect">
            <a:avLst/>
          </a:prstGeom>
          <a:noFill/>
          <a:ln/>
        </p:spPr>
        <p:txBody>
          <a:bodyPr wrap="none" lIns="0" tIns="0" rIns="0" bIns="0" rtlCol="0" anchor="t"/>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Paper Title</a:t>
            </a:r>
            <a:endParaRPr lang="en-US" sz="1000" dirty="0"/>
          </a:p>
        </p:txBody>
      </p:sp>
      <p:sp>
        <p:nvSpPr>
          <p:cNvPr id="9" name="Shape 7"/>
          <p:cNvSpPr/>
          <p:nvPr/>
        </p:nvSpPr>
        <p:spPr>
          <a:xfrm>
            <a:off x="2961159" y="1696641"/>
            <a:ext cx="2819102" cy="325710"/>
          </a:xfrm>
          <a:prstGeom prst="rect">
            <a:avLst/>
          </a:prstGeom>
          <a:solidFill>
            <a:srgbClr val="013180"/>
          </a:solidFill>
          <a:ln/>
        </p:spPr>
      </p:sp>
      <p:sp>
        <p:nvSpPr>
          <p:cNvPr id="10" name="Text 8"/>
          <p:cNvSpPr/>
          <p:nvPr/>
        </p:nvSpPr>
        <p:spPr>
          <a:xfrm>
            <a:off x="3088853" y="1764878"/>
            <a:ext cx="3020913" cy="186854"/>
          </a:xfrm>
          <a:prstGeom prst="rect">
            <a:avLst/>
          </a:prstGeom>
          <a:noFill/>
          <a:ln/>
        </p:spPr>
        <p:txBody>
          <a:bodyPr wrap="none" lIns="0" tIns="0" rIns="0" bIns="0" rtlCol="0" anchor="t"/>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Contribution</a:t>
            </a:r>
            <a:endParaRPr lang="en-US" sz="1000" dirty="0"/>
          </a:p>
        </p:txBody>
      </p:sp>
      <p:sp>
        <p:nvSpPr>
          <p:cNvPr id="11" name="Shape 9"/>
          <p:cNvSpPr/>
          <p:nvPr/>
        </p:nvSpPr>
        <p:spPr>
          <a:xfrm>
            <a:off x="5780261" y="1696641"/>
            <a:ext cx="2819102" cy="325710"/>
          </a:xfrm>
          <a:prstGeom prst="rect">
            <a:avLst/>
          </a:prstGeom>
          <a:solidFill>
            <a:srgbClr val="013180"/>
          </a:solidFill>
          <a:ln/>
        </p:spPr>
      </p:sp>
      <p:sp>
        <p:nvSpPr>
          <p:cNvPr id="12" name="Text 10"/>
          <p:cNvSpPr/>
          <p:nvPr/>
        </p:nvSpPr>
        <p:spPr>
          <a:xfrm>
            <a:off x="5907956" y="1764878"/>
            <a:ext cx="3020913" cy="186854"/>
          </a:xfrm>
          <a:prstGeom prst="rect">
            <a:avLst/>
          </a:prstGeom>
          <a:noFill/>
          <a:ln/>
        </p:spPr>
        <p:txBody>
          <a:bodyPr wrap="none" lIns="0" tIns="0" rIns="0" bIns="0" rtlCol="0" anchor="t"/>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Our Enhancement</a:t>
            </a:r>
            <a:endParaRPr lang="en-US" sz="1000" dirty="0"/>
          </a:p>
        </p:txBody>
      </p:sp>
      <p:sp>
        <p:nvSpPr>
          <p:cNvPr id="13" name="Text 11"/>
          <p:cNvSpPr/>
          <p:nvPr/>
        </p:nvSpPr>
        <p:spPr>
          <a:xfrm>
            <a:off x="672480" y="2092970"/>
            <a:ext cx="2160984" cy="934269"/>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An Intelligent Resume Analysis and Job Recommendation System Using NLP</a:t>
            </a:r>
            <a:endParaRPr lang="en-US" sz="1000" dirty="0"/>
          </a:p>
          <a:p>
            <a:pPr marL="0" indent="0" algn="l">
              <a:lnSpc>
                <a:spcPct val="122000"/>
              </a:lnSpc>
              <a:buNone/>
            </a:pPr>
            <a:r>
              <a:rPr lang="en-US" sz="1000" i="1" dirty="0">
                <a:solidFill>
                  <a:srgbClr val="E2E6E9"/>
                </a:solidFill>
                <a:latin typeface="Merriweather" pitchFamily="34" charset="0"/>
                <a:ea typeface="Merriweather" pitchFamily="34" charset="-122"/>
                <a:cs typeface="Merriweather" pitchFamily="34" charset="-120"/>
              </a:rPr>
              <a:t>Comprehensive Journal of Science, 2026</a:t>
            </a:r>
            <a:endParaRPr lang="en-US" sz="1000" dirty="0"/>
          </a:p>
        </p:txBody>
      </p:sp>
      <p:sp>
        <p:nvSpPr>
          <p:cNvPr id="14" name="Text 12"/>
          <p:cNvSpPr/>
          <p:nvPr/>
        </p:nvSpPr>
        <p:spPr>
          <a:xfrm>
            <a:off x="3088853" y="2092970"/>
            <a:ext cx="2563713" cy="373707"/>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Resume Parsing · Skill Extraction · Resume Analysis · Job Recommendation</a:t>
            </a:r>
            <a:endParaRPr lang="en-US" sz="1000" dirty="0"/>
          </a:p>
        </p:txBody>
      </p:sp>
      <p:sp>
        <p:nvSpPr>
          <p:cNvPr id="15" name="Text 13"/>
          <p:cNvSpPr/>
          <p:nvPr/>
        </p:nvSpPr>
        <p:spPr>
          <a:xfrm>
            <a:off x="5907956" y="2092970"/>
            <a:ext cx="2563713" cy="560561"/>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Resume + JD Analysis · Skill Gap Detection · AI Mock Assessment · Personalised Learning Roadmap</a:t>
            </a:r>
            <a:endParaRPr lang="en-US" sz="1000" dirty="0"/>
          </a:p>
        </p:txBody>
      </p:sp>
      <p:sp>
        <p:nvSpPr>
          <p:cNvPr id="16" name="Text 14"/>
          <p:cNvSpPr/>
          <p:nvPr/>
        </p:nvSpPr>
        <p:spPr>
          <a:xfrm>
            <a:off x="672480" y="3168476"/>
            <a:ext cx="2160984" cy="560561"/>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Job Description Parsing with Explainable Transformer Models</a:t>
            </a:r>
            <a:endParaRPr lang="en-US" sz="1000" dirty="0"/>
          </a:p>
          <a:p>
            <a:pPr marL="0" indent="0" algn="l">
              <a:lnSpc>
                <a:spcPct val="122000"/>
              </a:lnSpc>
              <a:buNone/>
            </a:pPr>
            <a:r>
              <a:rPr lang="en-US" sz="1000" i="1" dirty="0">
                <a:solidFill>
                  <a:srgbClr val="E2E6E9"/>
                </a:solidFill>
                <a:latin typeface="Merriweather" pitchFamily="34" charset="0"/>
                <a:ea typeface="Merriweather" pitchFamily="34" charset="-122"/>
                <a:cs typeface="Merriweather" pitchFamily="34" charset="-120"/>
              </a:rPr>
              <a:t>2024</a:t>
            </a:r>
            <a:endParaRPr lang="en-US" sz="1000" dirty="0"/>
          </a:p>
        </p:txBody>
      </p:sp>
      <p:sp>
        <p:nvSpPr>
          <p:cNvPr id="17" name="Text 15"/>
          <p:cNvSpPr/>
          <p:nvPr/>
        </p:nvSpPr>
        <p:spPr>
          <a:xfrm>
            <a:off x="3088853" y="3168476"/>
            <a:ext cx="2563713" cy="373707"/>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Job Description Parsing · Skill Extraction · Transformer-based Analysis</a:t>
            </a:r>
            <a:endParaRPr lang="en-US" sz="1000" dirty="0"/>
          </a:p>
        </p:txBody>
      </p:sp>
      <p:sp>
        <p:nvSpPr>
          <p:cNvPr id="18" name="Text 16"/>
          <p:cNvSpPr/>
          <p:nvPr/>
        </p:nvSpPr>
        <p:spPr>
          <a:xfrm>
            <a:off x="5907956" y="3168476"/>
            <a:ext cx="2563713" cy="560561"/>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Resume vs JD Matching · Skill Gap Identification · Mock Skill Assessment · Personalised Roadmap</a:t>
            </a:r>
            <a:endParaRPr lang="en-US" sz="1000" dirty="0"/>
          </a:p>
        </p:txBody>
      </p:sp>
      <p:sp>
        <p:nvSpPr>
          <p:cNvPr id="19" name="Text 17"/>
          <p:cNvSpPr/>
          <p:nvPr/>
        </p:nvSpPr>
        <p:spPr>
          <a:xfrm>
            <a:off x="672480" y="3870275"/>
            <a:ext cx="2160984" cy="747415"/>
          </a:xfrm>
          <a:prstGeom prst="rect">
            <a:avLst/>
          </a:prstGeom>
          <a:noFill/>
          <a:ln/>
        </p:spPr>
        <p:txBody>
          <a:bodyPr wrap="square" lIns="0" tIns="0" rIns="0" bIns="0" rtlCol="0" anchor="t">
            <a:normAutofit/>
          </a:bodyPr>
          <a:lstStyle/>
          <a:p>
            <a:pPr marL="0" indent="0" algn="l">
              <a:lnSpc>
                <a:spcPct val="122000"/>
              </a:lnSpc>
              <a:buNone/>
            </a:pPr>
            <a:r>
              <a:rPr lang="en-US" sz="1000" b="1" dirty="0">
                <a:solidFill>
                  <a:srgbClr val="E2E6E9"/>
                </a:solidFill>
                <a:latin typeface="Merriweather Bold" pitchFamily="34" charset="0"/>
                <a:ea typeface="Merriweather Bold" pitchFamily="34" charset="-122"/>
                <a:cs typeface="Merriweather Bold" pitchFamily="34" charset="-120"/>
              </a:rPr>
              <a:t>Smart-Hiring: End-to-End CV Information Extraction and Job Matching</a:t>
            </a:r>
            <a:endParaRPr lang="en-US" sz="1000" dirty="0"/>
          </a:p>
          <a:p>
            <a:pPr marL="0" indent="0" algn="l">
              <a:lnSpc>
                <a:spcPct val="122000"/>
              </a:lnSpc>
              <a:buNone/>
            </a:pPr>
            <a:r>
              <a:rPr lang="en-US" sz="1000" i="1" dirty="0">
                <a:solidFill>
                  <a:srgbClr val="E2E6E9"/>
                </a:solidFill>
                <a:latin typeface="Merriweather" pitchFamily="34" charset="0"/>
                <a:ea typeface="Merriweather" pitchFamily="34" charset="-122"/>
                <a:cs typeface="Merriweather" pitchFamily="34" charset="-120"/>
              </a:rPr>
              <a:t>2025</a:t>
            </a:r>
            <a:endParaRPr lang="en-US" sz="1000" dirty="0"/>
          </a:p>
        </p:txBody>
      </p:sp>
      <p:sp>
        <p:nvSpPr>
          <p:cNvPr id="20" name="Text 18"/>
          <p:cNvSpPr/>
          <p:nvPr/>
        </p:nvSpPr>
        <p:spPr>
          <a:xfrm>
            <a:off x="3088853" y="3870275"/>
            <a:ext cx="2563713" cy="373707"/>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CV Parsing · Job Matching · Semantic Similarity</a:t>
            </a:r>
            <a:endParaRPr lang="en-US" sz="1000" dirty="0"/>
          </a:p>
        </p:txBody>
      </p:sp>
      <p:sp>
        <p:nvSpPr>
          <p:cNvPr id="21" name="Text 19"/>
          <p:cNvSpPr/>
          <p:nvPr/>
        </p:nvSpPr>
        <p:spPr>
          <a:xfrm>
            <a:off x="5907956" y="3870275"/>
            <a:ext cx="2563713" cy="560561"/>
          </a:xfrm>
          <a:prstGeom prst="rect">
            <a:avLst/>
          </a:prstGeom>
          <a:noFill/>
          <a:ln/>
        </p:spPr>
        <p:txBody>
          <a:bodyPr wrap="square" lIns="0" tIns="0" rIns="0" bIns="0" rtlCol="0" anchor="t">
            <a:normAutofit/>
          </a:bodyPr>
          <a:lstStyle/>
          <a:p>
            <a:pPr marL="0" indent="0" algn="l">
              <a:lnSpc>
                <a:spcPct val="122000"/>
              </a:lnSpc>
              <a:buNone/>
            </a:pPr>
            <a:r>
              <a:rPr lang="en-US" sz="1000" dirty="0">
                <a:solidFill>
                  <a:srgbClr val="E2E6E9"/>
                </a:solidFill>
                <a:latin typeface="Merriweather" pitchFamily="34" charset="0"/>
                <a:ea typeface="Merriweather" pitchFamily="34" charset="-122"/>
                <a:cs typeface="Merriweather" pitchFamily="34" charset="-120"/>
              </a:rPr>
              <a:t>ATS Resume Analysis · Resume + JD Comparison · AI-Based Mock Assessment · Learning Roadmap Generation</a:t>
            </a:r>
            <a:endParaRPr lang="en-US" sz="1000" dirty="0"/>
          </a:p>
        </p:txBody>
      </p:sp>
      <p:sp>
        <p:nvSpPr>
          <p:cNvPr id="22" name="Rectangle: Rounded Corners 21">
            <a:extLst>
              <a:ext uri="{FF2B5EF4-FFF2-40B4-BE49-F238E27FC236}">
                <a16:creationId xmlns:a16="http://schemas.microsoft.com/office/drawing/2014/main" id="{57040ABB-9208-45FE-8E8F-82865E8A3141}"/>
              </a:ext>
            </a:extLst>
          </p:cNvPr>
          <p:cNvSpPr/>
          <p:nvPr/>
        </p:nvSpPr>
        <p:spPr>
          <a:xfrm>
            <a:off x="8032652" y="4853354"/>
            <a:ext cx="1048043" cy="246185"/>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6D944A8A-738E-A216-6797-83C4AF95A002}"/>
              </a:ext>
            </a:extLst>
          </p:cNvPr>
          <p:cNvSpPr/>
          <p:nvPr/>
        </p:nvSpPr>
        <p:spPr>
          <a:xfrm>
            <a:off x="10212" y="75999"/>
            <a:ext cx="1069145" cy="296146"/>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39874" y="478334"/>
            <a:ext cx="1050503" cy="183207"/>
          </a:xfrm>
          <a:prstGeom prst="roundRect">
            <a:avLst>
              <a:gd name="adj" fmla="val 19893"/>
            </a:avLst>
          </a:prstGeom>
          <a:solidFill>
            <a:srgbClr val="001D4D"/>
          </a:solidFill>
          <a:ln/>
        </p:spPr>
      </p:sp>
      <p:sp>
        <p:nvSpPr>
          <p:cNvPr id="3" name="Text 1"/>
          <p:cNvSpPr/>
          <p:nvPr/>
        </p:nvSpPr>
        <p:spPr>
          <a:xfrm>
            <a:off x="604912" y="510853"/>
            <a:ext cx="1377628" cy="118170"/>
          </a:xfrm>
          <a:prstGeom prst="rect">
            <a:avLst/>
          </a:prstGeom>
          <a:noFill/>
          <a:ln/>
        </p:spPr>
        <p:txBody>
          <a:bodyPr wrap="none" lIns="0" tIns="0" rIns="0" bIns="0" rtlCol="0" anchor="t"/>
          <a:lstStyle/>
          <a:p>
            <a:pPr marL="0" indent="0" algn="l">
              <a:lnSpc>
                <a:spcPct val="114000"/>
              </a:lnSpc>
              <a:buNone/>
            </a:pPr>
            <a:r>
              <a:rPr lang="en-US" sz="650" dirty="0">
                <a:solidFill>
                  <a:srgbClr val="E2E6E9"/>
                </a:solidFill>
                <a:latin typeface="Merriweather" pitchFamily="34" charset="0"/>
                <a:ea typeface="Merriweather" pitchFamily="34" charset="-122"/>
                <a:cs typeface="Merriweather" pitchFamily="34" charset="-120"/>
              </a:rPr>
              <a:t>PROJECT OBJECTIVES</a:t>
            </a:r>
            <a:endParaRPr lang="en-US" sz="650" dirty="0"/>
          </a:p>
        </p:txBody>
      </p:sp>
      <p:sp>
        <p:nvSpPr>
          <p:cNvPr id="4" name="Text 2"/>
          <p:cNvSpPr/>
          <p:nvPr/>
        </p:nvSpPr>
        <p:spPr>
          <a:xfrm>
            <a:off x="539874" y="691976"/>
            <a:ext cx="3440088" cy="271090"/>
          </a:xfrm>
          <a:prstGeom prst="rect">
            <a:avLst/>
          </a:prstGeom>
          <a:noFill/>
          <a:ln/>
        </p:spPr>
        <p:txBody>
          <a:bodyPr wrap="none" lIns="0" tIns="0" rIns="0" bIns="0" rtlCol="0" anchor="t"/>
          <a:lstStyle/>
          <a:p>
            <a:pPr marL="0" indent="0" algn="l">
              <a:lnSpc>
                <a:spcPct val="104000"/>
              </a:lnSpc>
              <a:buNone/>
            </a:pPr>
            <a:r>
              <a:rPr lang="en-US" sz="1700" dirty="0">
                <a:solidFill>
                  <a:srgbClr val="F5F0F0"/>
                </a:solidFill>
                <a:latin typeface="Merriweather" pitchFamily="34" charset="0"/>
                <a:ea typeface="Merriweather" pitchFamily="34" charset="-122"/>
                <a:cs typeface="Merriweather" pitchFamily="34" charset="-120"/>
              </a:rPr>
              <a:t>Key Objectives of the System</a:t>
            </a:r>
            <a:endParaRPr lang="en-US" sz="1700" dirty="0"/>
          </a:p>
        </p:txBody>
      </p:sp>
      <p:sp>
        <p:nvSpPr>
          <p:cNvPr id="5" name="Text 3"/>
          <p:cNvSpPr/>
          <p:nvPr/>
        </p:nvSpPr>
        <p:spPr>
          <a:xfrm>
            <a:off x="539874" y="1077441"/>
            <a:ext cx="8064252"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The proposed system goes beyond conventional resume matching by validating actual candidate knowledge through AI-driven mock assessments and generating targeted learning roadmaps.</a:t>
            </a:r>
            <a:endParaRPr lang="en-US" sz="8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1458813"/>
            <a:ext cx="2637234" cy="1067246"/>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93416" y="1556370"/>
            <a:ext cx="130150" cy="130150"/>
          </a:xfrm>
          <a:prstGeom prst="rect">
            <a:avLst/>
          </a:prstGeom>
        </p:spPr>
      </p:pic>
      <p:sp>
        <p:nvSpPr>
          <p:cNvPr id="8" name="Text 4"/>
          <p:cNvSpPr/>
          <p:nvPr/>
        </p:nvSpPr>
        <p:spPr>
          <a:xfrm>
            <a:off x="662583" y="1892647"/>
            <a:ext cx="1355824"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Resume Analysis</a:t>
            </a:r>
            <a:endParaRPr lang="en-US" sz="1050" dirty="0"/>
          </a:p>
        </p:txBody>
      </p:sp>
      <p:sp>
        <p:nvSpPr>
          <p:cNvPr id="9" name="Text 5"/>
          <p:cNvSpPr/>
          <p:nvPr/>
        </p:nvSpPr>
        <p:spPr>
          <a:xfrm>
            <a:off x="662583" y="2107778"/>
            <a:ext cx="2391817"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Parse and analyse uploaded resumes using AI and NLP techniques.</a:t>
            </a:r>
            <a:endParaRPr lang="en-US" sz="8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3308" y="1458813"/>
            <a:ext cx="2637309" cy="1067246"/>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06850" y="1556370"/>
            <a:ext cx="130150" cy="130150"/>
          </a:xfrm>
          <a:prstGeom prst="rect">
            <a:avLst/>
          </a:prstGeom>
        </p:spPr>
      </p:pic>
      <p:sp>
        <p:nvSpPr>
          <p:cNvPr id="12" name="Text 6"/>
          <p:cNvSpPr/>
          <p:nvPr/>
        </p:nvSpPr>
        <p:spPr>
          <a:xfrm>
            <a:off x="3376017" y="1892647"/>
            <a:ext cx="1355824"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JD Comparison</a:t>
            </a:r>
            <a:endParaRPr lang="en-US" sz="1050" dirty="0"/>
          </a:p>
        </p:txBody>
      </p:sp>
      <p:sp>
        <p:nvSpPr>
          <p:cNvPr id="13" name="Text 7"/>
          <p:cNvSpPr/>
          <p:nvPr/>
        </p:nvSpPr>
        <p:spPr>
          <a:xfrm>
            <a:off x="3376017" y="2107778"/>
            <a:ext cx="2391891"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Compare candidate profiles against specific job descriptions.</a:t>
            </a:r>
            <a:endParaRPr lang="en-US" sz="8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6817" y="1458813"/>
            <a:ext cx="2637234" cy="1067246"/>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20359" y="1556370"/>
            <a:ext cx="130150" cy="130150"/>
          </a:xfrm>
          <a:prstGeom prst="rect">
            <a:avLst/>
          </a:prstGeom>
        </p:spPr>
      </p:pic>
      <p:sp>
        <p:nvSpPr>
          <p:cNvPr id="16" name="Text 8"/>
          <p:cNvSpPr/>
          <p:nvPr/>
        </p:nvSpPr>
        <p:spPr>
          <a:xfrm>
            <a:off x="6089526" y="1892647"/>
            <a:ext cx="1499667"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Skill Gap Identification</a:t>
            </a:r>
            <a:endParaRPr lang="en-US" sz="1050" dirty="0"/>
          </a:p>
        </p:txBody>
      </p:sp>
      <p:sp>
        <p:nvSpPr>
          <p:cNvPr id="17" name="Text 9"/>
          <p:cNvSpPr/>
          <p:nvPr/>
        </p:nvSpPr>
        <p:spPr>
          <a:xfrm>
            <a:off x="6089526" y="2107778"/>
            <a:ext cx="2391817"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Detect matching and missing skills between resume and JD.</a:t>
            </a:r>
            <a:endParaRPr lang="en-US" sz="850" dirty="0"/>
          </a:p>
        </p:txBody>
      </p:sp>
      <p:pic>
        <p:nvPicPr>
          <p:cNvPr id="18"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9874" y="2602260"/>
            <a:ext cx="2637234" cy="1067246"/>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93416" y="2699817"/>
            <a:ext cx="130150" cy="130150"/>
          </a:xfrm>
          <a:prstGeom prst="rect">
            <a:avLst/>
          </a:prstGeom>
        </p:spPr>
      </p:pic>
      <p:sp>
        <p:nvSpPr>
          <p:cNvPr id="20" name="Text 10"/>
          <p:cNvSpPr/>
          <p:nvPr/>
        </p:nvSpPr>
        <p:spPr>
          <a:xfrm>
            <a:off x="662583" y="3036094"/>
            <a:ext cx="1357908"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AI Mock Assessment</a:t>
            </a:r>
            <a:endParaRPr lang="en-US" sz="1050" dirty="0"/>
          </a:p>
        </p:txBody>
      </p:sp>
      <p:sp>
        <p:nvSpPr>
          <p:cNvPr id="21" name="Text 11"/>
          <p:cNvSpPr/>
          <p:nvPr/>
        </p:nvSpPr>
        <p:spPr>
          <a:xfrm>
            <a:off x="662583" y="3251225"/>
            <a:ext cx="2391817"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Conduct AI-based assessments to validate practical knowledge.</a:t>
            </a:r>
            <a:endParaRPr lang="en-US" sz="850" dirty="0"/>
          </a:p>
        </p:txBody>
      </p:sp>
      <p:pic>
        <p:nvPicPr>
          <p:cNvPr id="22" name="Image 8"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3308" y="2602260"/>
            <a:ext cx="2637309" cy="1067246"/>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06850" y="2699817"/>
            <a:ext cx="130150" cy="130150"/>
          </a:xfrm>
          <a:prstGeom prst="rect">
            <a:avLst/>
          </a:prstGeom>
        </p:spPr>
      </p:pic>
      <p:sp>
        <p:nvSpPr>
          <p:cNvPr id="24" name="Text 12"/>
          <p:cNvSpPr/>
          <p:nvPr/>
        </p:nvSpPr>
        <p:spPr>
          <a:xfrm>
            <a:off x="3376017" y="3036094"/>
            <a:ext cx="1568500"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Performance Evaluation</a:t>
            </a:r>
            <a:endParaRPr lang="en-US" sz="1050" dirty="0"/>
          </a:p>
        </p:txBody>
      </p:sp>
      <p:sp>
        <p:nvSpPr>
          <p:cNvPr id="25" name="Text 13"/>
          <p:cNvSpPr/>
          <p:nvPr/>
        </p:nvSpPr>
        <p:spPr>
          <a:xfrm>
            <a:off x="3376017" y="3251225"/>
            <a:ext cx="2391891"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Evaluate candidate results to measure genuine competency.</a:t>
            </a:r>
            <a:endParaRPr lang="en-US" sz="850" dirty="0"/>
          </a:p>
        </p:txBody>
      </p:sp>
      <p:pic>
        <p:nvPicPr>
          <p:cNvPr id="26" name="Image 1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6817" y="2602260"/>
            <a:ext cx="2637234" cy="1067246"/>
          </a:xfrm>
          <a:prstGeom prst="rect">
            <a:avLst/>
          </a:prstGeom>
        </p:spPr>
      </p:pic>
      <p:pic>
        <p:nvPicPr>
          <p:cNvPr id="27" name="Image 11"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20359" y="2699817"/>
            <a:ext cx="130150" cy="130150"/>
          </a:xfrm>
          <a:prstGeom prst="rect">
            <a:avLst/>
          </a:prstGeom>
        </p:spPr>
      </p:pic>
      <p:sp>
        <p:nvSpPr>
          <p:cNvPr id="28" name="Text 14"/>
          <p:cNvSpPr/>
          <p:nvPr/>
        </p:nvSpPr>
        <p:spPr>
          <a:xfrm>
            <a:off x="6089526" y="3036094"/>
            <a:ext cx="1482700"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Personalised Roadmap</a:t>
            </a:r>
            <a:endParaRPr lang="en-US" sz="1050" dirty="0"/>
          </a:p>
        </p:txBody>
      </p:sp>
      <p:sp>
        <p:nvSpPr>
          <p:cNvPr id="29" name="Text 15"/>
          <p:cNvSpPr/>
          <p:nvPr/>
        </p:nvSpPr>
        <p:spPr>
          <a:xfrm>
            <a:off x="6089526" y="3251225"/>
            <a:ext cx="2391817" cy="295573"/>
          </a:xfrm>
          <a:prstGeom prst="rect">
            <a:avLst/>
          </a:prstGeom>
          <a:noFill/>
          <a:ln/>
        </p:spPr>
        <p:txBody>
          <a:bodyPr wrap="square" lIns="0" tIns="0" rIns="0" bIns="0" rtlCol="0" anchor="t">
            <a:normAutofit/>
          </a:bodyPr>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Generate tailored learning paths to bridge identified gaps.</a:t>
            </a:r>
            <a:endParaRPr lang="en-US" sz="850" dirty="0"/>
          </a:p>
        </p:txBody>
      </p:sp>
      <p:pic>
        <p:nvPicPr>
          <p:cNvPr id="30" name="Image 12"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9874" y="3745706"/>
            <a:ext cx="8064178" cy="919460"/>
          </a:xfrm>
          <a:prstGeom prst="rect">
            <a:avLst/>
          </a:prstGeom>
        </p:spPr>
      </p:pic>
      <p:pic>
        <p:nvPicPr>
          <p:cNvPr id="31" name="Image 13"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06850" y="3843263"/>
            <a:ext cx="130150" cy="130150"/>
          </a:xfrm>
          <a:prstGeom prst="rect">
            <a:avLst/>
          </a:prstGeom>
        </p:spPr>
      </p:pic>
      <p:sp>
        <p:nvSpPr>
          <p:cNvPr id="32" name="Text 16"/>
          <p:cNvSpPr/>
          <p:nvPr/>
        </p:nvSpPr>
        <p:spPr>
          <a:xfrm>
            <a:off x="662583" y="4179540"/>
            <a:ext cx="1355824" cy="169441"/>
          </a:xfrm>
          <a:prstGeom prst="rect">
            <a:avLst/>
          </a:prstGeom>
          <a:noFill/>
          <a:ln/>
        </p:spPr>
        <p:txBody>
          <a:bodyPr wrap="none" lIns="0" tIns="0" rIns="0" bIns="0" rtlCol="0" anchor="t"/>
          <a:lstStyle/>
          <a:p>
            <a:pPr marL="0" indent="0" algn="l">
              <a:lnSpc>
                <a:spcPct val="104000"/>
              </a:lnSpc>
              <a:buNone/>
            </a:pPr>
            <a:r>
              <a:rPr lang="en-US" sz="1050" dirty="0">
                <a:solidFill>
                  <a:srgbClr val="E2E6E9"/>
                </a:solidFill>
                <a:latin typeface="Merriweather" pitchFamily="34" charset="0"/>
                <a:ea typeface="Merriweather" pitchFamily="34" charset="-122"/>
                <a:cs typeface="Merriweather" pitchFamily="34" charset="-120"/>
              </a:rPr>
              <a:t>Interview Readiness</a:t>
            </a:r>
            <a:endParaRPr lang="en-US" sz="1050" dirty="0"/>
          </a:p>
        </p:txBody>
      </p:sp>
      <p:sp>
        <p:nvSpPr>
          <p:cNvPr id="33" name="Text 17"/>
          <p:cNvSpPr/>
          <p:nvPr/>
        </p:nvSpPr>
        <p:spPr>
          <a:xfrm>
            <a:off x="662583" y="4394671"/>
            <a:ext cx="7818760" cy="147786"/>
          </a:xfrm>
          <a:prstGeom prst="rect">
            <a:avLst/>
          </a:prstGeom>
          <a:noFill/>
          <a:ln/>
        </p:spPr>
        <p:txBody>
          <a:bodyPr wrap="none" lIns="0" tIns="0" rIns="0" bIns="0" rtlCol="0" anchor="t"/>
          <a:lstStyle/>
          <a:p>
            <a:pPr marL="0" indent="0" algn="l">
              <a:lnSpc>
                <a:spcPct val="114000"/>
              </a:lnSpc>
              <a:buNone/>
            </a:pPr>
            <a:r>
              <a:rPr lang="en-US" sz="850" dirty="0">
                <a:solidFill>
                  <a:srgbClr val="E2E6E9"/>
                </a:solidFill>
                <a:latin typeface="Merriweather" pitchFamily="34" charset="0"/>
                <a:ea typeface="Merriweather" pitchFamily="34" charset="-122"/>
                <a:cs typeface="Merriweather" pitchFamily="34" charset="-120"/>
              </a:rPr>
              <a:t>Improve employability and confidence through guided preparation.</a:t>
            </a:r>
            <a:endParaRPr lang="en-US" sz="850" dirty="0"/>
          </a:p>
        </p:txBody>
      </p:sp>
      <p:sp>
        <p:nvSpPr>
          <p:cNvPr id="34" name="Rectangle: Rounded Corners 33">
            <a:extLst>
              <a:ext uri="{FF2B5EF4-FFF2-40B4-BE49-F238E27FC236}">
                <a16:creationId xmlns:a16="http://schemas.microsoft.com/office/drawing/2014/main" id="{6B782876-DAF0-EB06-2D14-E16A10197B99}"/>
              </a:ext>
            </a:extLst>
          </p:cNvPr>
          <p:cNvSpPr/>
          <p:nvPr/>
        </p:nvSpPr>
        <p:spPr>
          <a:xfrm>
            <a:off x="38687" y="60866"/>
            <a:ext cx="1132449" cy="233070"/>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3DDA9D39-B636-B786-94AB-9474A0ED7EF8}"/>
              </a:ext>
            </a:extLst>
          </p:cNvPr>
          <p:cNvSpPr/>
          <p:nvPr/>
        </p:nvSpPr>
        <p:spPr>
          <a:xfrm>
            <a:off x="8011549" y="4789324"/>
            <a:ext cx="1069145" cy="295573"/>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39874" y="474613"/>
            <a:ext cx="1221656" cy="237158"/>
          </a:xfrm>
          <a:prstGeom prst="roundRect">
            <a:avLst>
              <a:gd name="adj" fmla="val 18783"/>
            </a:avLst>
          </a:prstGeom>
          <a:solidFill>
            <a:srgbClr val="001D4D"/>
          </a:solidFill>
          <a:ln/>
        </p:spPr>
      </p:sp>
      <p:sp>
        <p:nvSpPr>
          <p:cNvPr id="3" name="Text 1"/>
          <p:cNvSpPr/>
          <p:nvPr/>
        </p:nvSpPr>
        <p:spPr>
          <a:xfrm>
            <a:off x="619348" y="514350"/>
            <a:ext cx="1519907" cy="157683"/>
          </a:xfrm>
          <a:prstGeom prst="rect">
            <a:avLst/>
          </a:prstGeom>
          <a:noFill/>
          <a:ln/>
        </p:spPr>
        <p:txBody>
          <a:bodyPr wrap="none" lIns="0" tIns="0" rIns="0" bIns="0" rtlCol="0" anchor="t"/>
          <a:lstStyle/>
          <a:p>
            <a:pPr marL="0" indent="0" algn="l">
              <a:lnSpc>
                <a:spcPct val="124000"/>
              </a:lnSpc>
              <a:buNone/>
            </a:pPr>
            <a:r>
              <a:rPr lang="en-US" sz="800" dirty="0">
                <a:solidFill>
                  <a:srgbClr val="E2E6E9"/>
                </a:solidFill>
                <a:latin typeface="Merriweather" pitchFamily="34" charset="0"/>
                <a:ea typeface="Merriweather" pitchFamily="34" charset="-122"/>
                <a:cs typeface="Merriweather" pitchFamily="34" charset="-120"/>
              </a:rPr>
              <a:t>PROJECT ABSTRACT</a:t>
            </a:r>
            <a:endParaRPr lang="en-US" sz="800" dirty="0"/>
          </a:p>
        </p:txBody>
      </p:sp>
      <p:sp>
        <p:nvSpPr>
          <p:cNvPr id="4" name="Text 2"/>
          <p:cNvSpPr/>
          <p:nvPr/>
        </p:nvSpPr>
        <p:spPr>
          <a:xfrm>
            <a:off x="539874" y="757312"/>
            <a:ext cx="3108647" cy="331366"/>
          </a:xfrm>
          <a:prstGeom prst="rect">
            <a:avLst/>
          </a:prstGeom>
          <a:noFill/>
          <a:ln/>
        </p:spPr>
        <p:txBody>
          <a:bodyPr wrap="none" lIns="0" tIns="0" rIns="0" bIns="0" rtlCol="0" anchor="t"/>
          <a:lstStyle/>
          <a:p>
            <a:pPr marL="0" indent="0" algn="l">
              <a:lnSpc>
                <a:spcPct val="104000"/>
              </a:lnSpc>
              <a:buNone/>
            </a:pPr>
            <a:r>
              <a:rPr lang="en-US" sz="2050" dirty="0">
                <a:solidFill>
                  <a:srgbClr val="F5F0F0"/>
                </a:solidFill>
                <a:latin typeface="Merriweather" pitchFamily="34" charset="0"/>
                <a:ea typeface="Merriweather" pitchFamily="34" charset="-122"/>
                <a:cs typeface="Merriweather" pitchFamily="34" charset="-120"/>
              </a:rPr>
              <a:t>Abstract</a:t>
            </a:r>
            <a:endParaRPr lang="en-US" sz="2050" dirty="0"/>
          </a:p>
        </p:txBody>
      </p:sp>
      <p:sp>
        <p:nvSpPr>
          <p:cNvPr id="5" name="Text 3"/>
          <p:cNvSpPr/>
          <p:nvPr/>
        </p:nvSpPr>
        <p:spPr>
          <a:xfrm>
            <a:off x="539874" y="1259532"/>
            <a:ext cx="8064252" cy="985838"/>
          </a:xfrm>
          <a:prstGeom prst="rect">
            <a:avLst/>
          </a:prstGeom>
          <a:noFill/>
          <a:ln/>
        </p:spPr>
        <p:txBody>
          <a:bodyPr wrap="square" lIns="0" tIns="0" rIns="0" bIns="0" rtlCol="0" anchor="t">
            <a:normAutofit/>
          </a:bodyPr>
          <a:lstStyle/>
          <a:p>
            <a:pPr marL="0" indent="0" algn="l">
              <a:lnSpc>
                <a:spcPct val="124000"/>
              </a:lnSpc>
              <a:buNone/>
            </a:pPr>
            <a:r>
              <a:rPr lang="en-US" sz="1300" dirty="0">
                <a:solidFill>
                  <a:srgbClr val="E2E6E9"/>
                </a:solidFill>
                <a:latin typeface="Merriweather" pitchFamily="34" charset="0"/>
                <a:ea typeface="Merriweather" pitchFamily="34" charset="-122"/>
                <a:cs typeface="Merriweather" pitchFamily="34" charset="-120"/>
              </a:rPr>
              <a:t>Career planning remains one of the most significant challenges faced by students and job seekers, largely due to a lack of awareness about industry-required skills. Existing resume analysers predominantly compare resumes with job descriptions and offer generic recommendations without validating the candidate's actual knowledge.</a:t>
            </a:r>
            <a:endParaRPr lang="en-US" sz="1300" dirty="0"/>
          </a:p>
        </p:txBody>
      </p:sp>
      <p:sp>
        <p:nvSpPr>
          <p:cNvPr id="6" name="Shape 4"/>
          <p:cNvSpPr/>
          <p:nvPr/>
        </p:nvSpPr>
        <p:spPr>
          <a:xfrm>
            <a:off x="539874" y="2406625"/>
            <a:ext cx="8064252" cy="14288"/>
          </a:xfrm>
          <a:prstGeom prst="roundRect">
            <a:avLst>
              <a:gd name="adj" fmla="val 59998"/>
            </a:avLst>
          </a:prstGeom>
          <a:solidFill>
            <a:srgbClr val="E2E6E9">
              <a:alpha val="50000"/>
            </a:srgbClr>
          </a:solidFill>
          <a:ln/>
        </p:spPr>
      </p:sp>
      <p:sp>
        <p:nvSpPr>
          <p:cNvPr id="7" name="Text 5"/>
          <p:cNvSpPr/>
          <p:nvPr/>
        </p:nvSpPr>
        <p:spPr>
          <a:xfrm>
            <a:off x="539874" y="2582168"/>
            <a:ext cx="8064252" cy="1478756"/>
          </a:xfrm>
          <a:prstGeom prst="rect">
            <a:avLst/>
          </a:prstGeom>
          <a:noFill/>
          <a:ln/>
        </p:spPr>
        <p:txBody>
          <a:bodyPr wrap="square" lIns="0" tIns="0" rIns="0" bIns="0" rtlCol="0" anchor="t">
            <a:normAutofit/>
          </a:bodyPr>
          <a:lstStyle/>
          <a:p>
            <a:pPr marL="0" indent="0" algn="l">
              <a:lnSpc>
                <a:spcPct val="124000"/>
              </a:lnSpc>
              <a:buNone/>
            </a:pPr>
            <a:r>
              <a:rPr lang="en-US" sz="1300" dirty="0">
                <a:solidFill>
                  <a:srgbClr val="E2E6E9"/>
                </a:solidFill>
                <a:latin typeface="Merriweather" pitchFamily="34" charset="0"/>
                <a:ea typeface="Merriweather" pitchFamily="34" charset="-122"/>
                <a:cs typeface="Merriweather" pitchFamily="34" charset="-120"/>
              </a:rPr>
              <a:t>The proposed </a:t>
            </a:r>
            <a:r>
              <a:rPr lang="en-US" sz="1300" b="1" dirty="0">
                <a:solidFill>
                  <a:srgbClr val="609DFF"/>
                </a:solidFill>
                <a:latin typeface="Merriweather Bold" pitchFamily="34" charset="0"/>
                <a:ea typeface="Merriweather Bold" pitchFamily="34" charset="-122"/>
                <a:cs typeface="Merriweather Bold" pitchFamily="34" charset="-120"/>
              </a:rPr>
              <a:t>AI Skill Gap Analyzer and Resume Analysis</a:t>
            </a:r>
            <a:r>
              <a:rPr lang="en-US" sz="1300" dirty="0">
                <a:solidFill>
                  <a:srgbClr val="E2E6E9"/>
                </a:solidFill>
                <a:latin typeface="Merriweather" pitchFamily="34" charset="0"/>
                <a:ea typeface="Merriweather" pitchFamily="34" charset="-122"/>
                <a:cs typeface="Merriweather" pitchFamily="34" charset="-120"/>
              </a:rPr>
              <a:t> system leverages Artificial Intelligence and Natural Language Processing to analyse resumes, compare them with uploaded job descriptions, identify missing skills, and detect critical skill gaps. The system further conducts an AI-based mock assessment to evaluate the candidate's practical comprehension. Based on both the Resume–JD analysis and assessment performance, it generates a </a:t>
            </a:r>
            <a:r>
              <a:rPr lang="en-US" sz="1300" b="1" dirty="0">
                <a:solidFill>
                  <a:srgbClr val="E2E6E9"/>
                </a:solidFill>
                <a:latin typeface="Merriweather Bold" pitchFamily="34" charset="0"/>
                <a:ea typeface="Merriweather Bold" pitchFamily="34" charset="-122"/>
                <a:cs typeface="Merriweather Bold" pitchFamily="34" charset="-120"/>
              </a:rPr>
              <a:t>personalised learning roadmap</a:t>
            </a:r>
            <a:r>
              <a:rPr lang="en-US" sz="1300" dirty="0">
                <a:solidFill>
                  <a:srgbClr val="E2E6E9"/>
                </a:solidFill>
                <a:latin typeface="Merriweather" pitchFamily="34" charset="0"/>
                <a:ea typeface="Merriweather" pitchFamily="34" charset="-122"/>
                <a:cs typeface="Merriweather" pitchFamily="34" charset="-120"/>
              </a:rPr>
              <a:t> that empowers users to strengthen their technical competencies and significantly enhance their employability.</a:t>
            </a:r>
            <a:endParaRPr lang="en-US" sz="1300" dirty="0"/>
          </a:p>
        </p:txBody>
      </p:sp>
      <p:sp>
        <p:nvSpPr>
          <p:cNvPr id="8" name="Shape 6"/>
          <p:cNvSpPr/>
          <p:nvPr/>
        </p:nvSpPr>
        <p:spPr>
          <a:xfrm>
            <a:off x="539874" y="4189065"/>
            <a:ext cx="8064252" cy="479822"/>
          </a:xfrm>
          <a:prstGeom prst="roundRect">
            <a:avLst>
              <a:gd name="adj" fmla="val 11605"/>
            </a:avLst>
          </a:prstGeom>
          <a:solidFill>
            <a:srgbClr val="003180"/>
          </a:solidFill>
          <a:ln/>
        </p:spPr>
      </p:sp>
      <p:pic>
        <p:nvPicPr>
          <p:cNvPr id="9" name="Image 0" descr="preencoded.png"/>
          <p:cNvPicPr>
            <a:picLocks noChangeAspect="1"/>
          </p:cNvPicPr>
          <p:nvPr/>
        </p:nvPicPr>
        <p:blipFill>
          <a:blip r:embed="rId3"/>
          <a:stretch>
            <a:fillRect/>
          </a:stretch>
        </p:blipFill>
        <p:spPr>
          <a:xfrm>
            <a:off x="672405" y="4372049"/>
            <a:ext cx="165646" cy="132531"/>
          </a:xfrm>
          <a:prstGeom prst="rect">
            <a:avLst/>
          </a:prstGeom>
        </p:spPr>
      </p:pic>
      <p:sp>
        <p:nvSpPr>
          <p:cNvPr id="10" name="Text 7"/>
          <p:cNvSpPr/>
          <p:nvPr/>
        </p:nvSpPr>
        <p:spPr>
          <a:xfrm>
            <a:off x="970583" y="4336107"/>
            <a:ext cx="7958212" cy="197197"/>
          </a:xfrm>
          <a:prstGeom prst="rect">
            <a:avLst/>
          </a:prstGeom>
          <a:noFill/>
          <a:ln/>
        </p:spPr>
        <p:txBody>
          <a:bodyPr wrap="none" lIns="0" tIns="0" rIns="0" bIns="0" rtlCol="0" anchor="t"/>
          <a:lstStyle/>
          <a:p>
            <a:pPr marL="0" indent="0" algn="l">
              <a:lnSpc>
                <a:spcPct val="124000"/>
              </a:lnSpc>
              <a:buNone/>
            </a:pPr>
            <a:r>
              <a:rPr lang="en-US" sz="1000" b="1" dirty="0">
                <a:solidFill>
                  <a:srgbClr val="FFFFFF"/>
                </a:solidFill>
                <a:latin typeface="Merriweather Bold" pitchFamily="34" charset="0"/>
                <a:ea typeface="Merriweather Bold" pitchFamily="34" charset="-122"/>
                <a:cs typeface="Merriweather Bold" pitchFamily="34" charset="-120"/>
              </a:rPr>
              <a:t>Key Outcome:</a:t>
            </a:r>
            <a:r>
              <a:rPr lang="en-US" sz="1000" dirty="0">
                <a:solidFill>
                  <a:srgbClr val="FFFFFF"/>
                </a:solidFill>
                <a:latin typeface="Merriweather" pitchFamily="34" charset="0"/>
                <a:ea typeface="Merriweather" pitchFamily="34" charset="-122"/>
                <a:cs typeface="Merriweather" pitchFamily="34" charset="-120"/>
              </a:rPr>
              <a:t> A closed-loop system — analyse, assess, evaluate, and recommend — for measurable career readiness.</a:t>
            </a:r>
            <a:endParaRPr lang="en-US" sz="1000" dirty="0"/>
          </a:p>
        </p:txBody>
      </p:sp>
      <p:sp>
        <p:nvSpPr>
          <p:cNvPr id="11" name="Rectangle: Rounded Corners 10">
            <a:extLst>
              <a:ext uri="{FF2B5EF4-FFF2-40B4-BE49-F238E27FC236}">
                <a16:creationId xmlns:a16="http://schemas.microsoft.com/office/drawing/2014/main" id="{ABE047A5-65BB-F4E3-EC5E-6D1416CB0045}"/>
              </a:ext>
            </a:extLst>
          </p:cNvPr>
          <p:cNvSpPr/>
          <p:nvPr/>
        </p:nvSpPr>
        <p:spPr>
          <a:xfrm>
            <a:off x="8011549" y="4789325"/>
            <a:ext cx="1069145" cy="296146"/>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3EDF8B54-1F4F-3610-3DB2-A1CD90AF25F5}"/>
              </a:ext>
            </a:extLst>
          </p:cNvPr>
          <p:cNvSpPr/>
          <p:nvPr/>
        </p:nvSpPr>
        <p:spPr>
          <a:xfrm>
            <a:off x="41960" y="6061"/>
            <a:ext cx="1069145" cy="296146"/>
          </a:xfrm>
          <a:prstGeom prst="roundRect">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601</Words>
  <Application>Microsoft Office PowerPoint</Application>
  <PresentationFormat>On-screen Show (16:9)</PresentationFormat>
  <Paragraphs>75</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Saravanan K</cp:lastModifiedBy>
  <cp:revision>3</cp:revision>
  <dcterms:created xsi:type="dcterms:W3CDTF">2026-07-02T16:13:33Z</dcterms:created>
  <dcterms:modified xsi:type="dcterms:W3CDTF">2026-10-12T11:44:12Z</dcterms:modified>
</cp:coreProperties>
</file>