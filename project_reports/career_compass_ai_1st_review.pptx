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Libre Baskerville" panose="02000000000000000000" pitchFamily="2" charset="0"/>
      <p:regular r:id="rId12"/>
    </p:embeddedFont>
    <p:embeddedFont>
      <p:font typeface="Libre Baskerville Bold" panose="02000000000000000000" pitchFamily="2" charset="0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itchFamily="2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2.fntdata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1.fntdata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font" Target="fonts/font4.fntdata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3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0C0AD-C1F8-4545-9A68-16A199F1992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3140E8-A1D8-7940-B9AC-E408730D5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373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pn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89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Career Compass AI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212764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AI-powered employability assessment and career readiness platform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689920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49495A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5350" y="2975173"/>
            <a:ext cx="5476043" cy="2723753"/>
          </a:xfrm>
          <a:prstGeom prst="roundRect">
            <a:avLst>
              <a:gd name="adj" fmla="val 1041"/>
            </a:avLst>
          </a:prstGeom>
          <a:solidFill>
            <a:srgbClr val="E7E0FF"/>
          </a:solidFill>
          <a:ln/>
        </p:spPr>
      </p:sp>
      <p:sp>
        <p:nvSpPr>
          <p:cNvPr id="6" name="Text 4"/>
          <p:cNvSpPr/>
          <p:nvPr/>
        </p:nvSpPr>
        <p:spPr>
          <a:xfrm>
            <a:off x="714357" y="3164185"/>
            <a:ext cx="509802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Department of Artificial Intelligence and Data Science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14357" y="3943747"/>
            <a:ext cx="5098029" cy="7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P.S.R Engineering College, Sivakasi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Academic Year: 2026–2027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2776" y="316418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Submitted By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32776" y="3648472"/>
            <a:ext cx="5203794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Saravanan K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Mathan 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Logesh K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Kavutham M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32776" y="5226447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Project Guide:</a:t>
            </a: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Mrs. Devi Nandhini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991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Domain &amp; Technology Stack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433909"/>
            <a:ext cx="1303106" cy="246856"/>
          </a:xfrm>
          <a:prstGeom prst="roundRect">
            <a:avLst>
              <a:gd name="adj" fmla="val 7896"/>
            </a:avLst>
          </a:prstGeom>
          <a:solidFill>
            <a:srgbClr val="D7D6F5"/>
          </a:solidFill>
          <a:ln/>
        </p:spPr>
      </p:sp>
      <p:sp>
        <p:nvSpPr>
          <p:cNvPr id="4" name="Text 2"/>
          <p:cNvSpPr/>
          <p:nvPr/>
        </p:nvSpPr>
        <p:spPr>
          <a:xfrm>
            <a:off x="758905" y="1482626"/>
            <a:ext cx="1717830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 DOMAIN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1475" y="1736527"/>
            <a:ext cx="5799489" cy="812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Artificial Intelligence &amp; Data Science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661475" y="2604294"/>
            <a:ext cx="5799489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Major Sub-Domains</a:t>
            </a:r>
            <a:endParaRPr lang="en-US" sz="15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15059"/>
            <a:ext cx="2829946" cy="14932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9140" y="3196530"/>
            <a:ext cx="2390814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Natural Language Processing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19140" y="3843635"/>
            <a:ext cx="239081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 and job description analysis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0919" y="3015059"/>
            <a:ext cx="2830045" cy="14932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88583" y="3196530"/>
            <a:ext cx="239091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Machine Learning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3888583" y="3589834"/>
            <a:ext cx="239091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Matching and candidate scoring</a:t>
            </a:r>
            <a:endParaRPr lang="en-US" sz="12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647803"/>
            <a:ext cx="2829946" cy="149324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9140" y="4829274"/>
            <a:ext cx="2390814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Recommendation Systems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919140" y="5476379"/>
            <a:ext cx="239081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Job and learning recommendations</a:t>
            </a:r>
            <a:endParaRPr lang="en-US" sz="12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0919" y="4647803"/>
            <a:ext cx="2830045" cy="149324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888583" y="4829274"/>
            <a:ext cx="239091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Analytics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3888583" y="5222577"/>
            <a:ext cx="239091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and readiness tracking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863583" y="1416447"/>
            <a:ext cx="467298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Technology Stack</a:t>
            </a:r>
            <a:endParaRPr lang="en-US" sz="1550" dirty="0"/>
          </a:p>
        </p:txBody>
      </p:sp>
      <p:sp>
        <p:nvSpPr>
          <p:cNvPr id="20" name="Shape 14"/>
          <p:cNvSpPr/>
          <p:nvPr/>
        </p:nvSpPr>
        <p:spPr>
          <a:xfrm>
            <a:off x="6863583" y="1827212"/>
            <a:ext cx="2266695" cy="959743"/>
          </a:xfrm>
          <a:prstGeom prst="roundRect">
            <a:avLst>
              <a:gd name="adj" fmla="val 2539"/>
            </a:avLst>
          </a:prstGeom>
          <a:solidFill>
            <a:srgbClr val="EAE8F3"/>
          </a:solidFill>
          <a:ln/>
        </p:spPr>
      </p:sp>
      <p:sp>
        <p:nvSpPr>
          <p:cNvPr id="21" name="Text 15"/>
          <p:cNvSpPr/>
          <p:nvPr/>
        </p:nvSpPr>
        <p:spPr>
          <a:xfrm>
            <a:off x="7026000" y="1989634"/>
            <a:ext cx="1941861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Frontend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7026000" y="2382937"/>
            <a:ext cx="1941861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React.js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9269776" y="1827212"/>
            <a:ext cx="2266794" cy="959743"/>
          </a:xfrm>
          <a:prstGeom prst="roundRect">
            <a:avLst>
              <a:gd name="adj" fmla="val 2539"/>
            </a:avLst>
          </a:prstGeom>
          <a:solidFill>
            <a:srgbClr val="EAE8F3"/>
          </a:solidFill>
          <a:ln/>
        </p:spPr>
      </p:sp>
      <p:sp>
        <p:nvSpPr>
          <p:cNvPr id="24" name="Text 18"/>
          <p:cNvSpPr/>
          <p:nvPr/>
        </p:nvSpPr>
        <p:spPr>
          <a:xfrm>
            <a:off x="9432193" y="1989634"/>
            <a:ext cx="194196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Backend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9432193" y="2382937"/>
            <a:ext cx="194196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Python, FastAPI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863583" y="2926457"/>
            <a:ext cx="2266695" cy="959743"/>
          </a:xfrm>
          <a:prstGeom prst="roundRect">
            <a:avLst>
              <a:gd name="adj" fmla="val 2539"/>
            </a:avLst>
          </a:prstGeom>
          <a:solidFill>
            <a:srgbClr val="EAE8F3"/>
          </a:solidFill>
          <a:ln/>
        </p:spPr>
      </p:sp>
      <p:sp>
        <p:nvSpPr>
          <p:cNvPr id="27" name="Text 21"/>
          <p:cNvSpPr/>
          <p:nvPr/>
        </p:nvSpPr>
        <p:spPr>
          <a:xfrm>
            <a:off x="7026000" y="3088878"/>
            <a:ext cx="1941861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7026000" y="3482181"/>
            <a:ext cx="1941861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9269776" y="2926457"/>
            <a:ext cx="2266794" cy="959743"/>
          </a:xfrm>
          <a:prstGeom prst="roundRect">
            <a:avLst>
              <a:gd name="adj" fmla="val 2539"/>
            </a:avLst>
          </a:prstGeom>
          <a:solidFill>
            <a:srgbClr val="EAE8F3"/>
          </a:solidFill>
          <a:ln/>
        </p:spPr>
      </p:sp>
      <p:sp>
        <p:nvSpPr>
          <p:cNvPr id="30" name="Text 24"/>
          <p:cNvSpPr/>
          <p:nvPr/>
        </p:nvSpPr>
        <p:spPr>
          <a:xfrm>
            <a:off x="9432193" y="3088878"/>
            <a:ext cx="194196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NLP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9432193" y="3482181"/>
            <a:ext cx="194196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spaCy, Transformers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6863583" y="4025702"/>
            <a:ext cx="4672987" cy="959743"/>
          </a:xfrm>
          <a:prstGeom prst="roundRect">
            <a:avLst>
              <a:gd name="adj" fmla="val 2539"/>
            </a:avLst>
          </a:prstGeom>
          <a:solidFill>
            <a:srgbClr val="EAE8F3"/>
          </a:solidFill>
          <a:ln/>
        </p:spPr>
      </p:sp>
      <p:sp>
        <p:nvSpPr>
          <p:cNvPr id="33" name="Text 27"/>
          <p:cNvSpPr/>
          <p:nvPr/>
        </p:nvSpPr>
        <p:spPr>
          <a:xfrm>
            <a:off x="7026000" y="4188123"/>
            <a:ext cx="4348153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Analytics</a:t>
            </a:r>
            <a:endParaRPr lang="en-US" sz="1550" dirty="0"/>
          </a:p>
        </p:txBody>
      </p:sp>
      <p:sp>
        <p:nvSpPr>
          <p:cNvPr id="34" name="Text 28"/>
          <p:cNvSpPr/>
          <p:nvPr/>
        </p:nvSpPr>
        <p:spPr>
          <a:xfrm>
            <a:off x="7026000" y="4581426"/>
            <a:ext cx="4348153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6680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Abstract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61475" y="1624409"/>
            <a:ext cx="1752854" cy="278110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1307" y="1679277"/>
            <a:ext cx="2142774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 STATEMENT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2102048"/>
            <a:ext cx="5211037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Students often apply for jobs without knowing whether their skills and resume fit specific roles. Existing systems mainly focus on parsing and keyword matching, </a:t>
            </a:r>
            <a:r>
              <a:rPr lang="en-US" sz="14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without evaluating actual competency.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475" y="3455293"/>
            <a:ext cx="1742138" cy="278110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1307" y="3510161"/>
            <a:ext cx="2132058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PROPOSED SOLUTION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61475" y="3932932"/>
            <a:ext cx="5211037" cy="2178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Career Compass AI analyzes a student's resume against selected job roles or job descriptions. It evaluates resume quality, ATS compatibility, job match, missing skills, and improvement areas.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platform also recommends projects, conducts role-specific mock assessments, tracks skill growth, and generates a personalized learning roadmap.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25533" y="1808063"/>
            <a:ext cx="521103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Outcome</a:t>
            </a:r>
            <a:endParaRPr lang="en-US" sz="18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533" y="2293640"/>
            <a:ext cx="5211037" cy="238492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315614" y="4112217"/>
            <a:ext cx="978309" cy="188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Improve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082676" y="4112217"/>
            <a:ext cx="978310" cy="188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Assess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856439" y="4112217"/>
            <a:ext cx="978309" cy="188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Match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603399" y="4112217"/>
            <a:ext cx="978310" cy="188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Analyze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325533" y="4878090"/>
            <a:ext cx="5211037" cy="987623"/>
          </a:xfrm>
          <a:prstGeom prst="roundRect">
            <a:avLst>
              <a:gd name="adj" fmla="val 2781"/>
            </a:avLst>
          </a:prstGeom>
          <a:solidFill>
            <a:srgbClr val="D7D6F5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587" y="5156795"/>
            <a:ext cx="228793" cy="18305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20434" y="5083473"/>
            <a:ext cx="443308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guides candidates toward job readiness.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50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Objectives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93763"/>
            <a:ext cx="10868745" cy="4439047"/>
          </a:xfrm>
          <a:prstGeom prst="roundRect">
            <a:avLst>
              <a:gd name="adj" fmla="val 63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1475" y="2956322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3913287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4870252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5848" y="1693763"/>
            <a:ext cx="11814" cy="443904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7825" y="1700113"/>
            <a:ext cx="5428023" cy="1256209"/>
          </a:xfrm>
          <a:custGeom>
            <a:avLst/>
            <a:gdLst/>
            <a:ahLst/>
            <a:cxnLst/>
            <a:rect l="l" t="t" r="r" b="b"/>
            <a:pathLst>
              <a:path w="5428023" h="1256209">
                <a:moveTo>
                  <a:pt x="23627" y="0"/>
                </a:moveTo>
                <a:lnTo>
                  <a:pt x="5428023" y="0"/>
                </a:lnTo>
                <a:lnTo>
                  <a:pt x="5428023" y="1256209"/>
                </a:lnTo>
                <a:lnTo>
                  <a:pt x="0" y="1256209"/>
                </a:lnTo>
                <a:lnTo>
                  <a:pt x="0" y="23628"/>
                </a:lnTo>
                <a:arcTo wR="23627" hR="23628" stAng="10800000" swAng="5400000"/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9" name="Text 7"/>
          <p:cNvSpPr/>
          <p:nvPr/>
        </p:nvSpPr>
        <p:spPr>
          <a:xfrm>
            <a:off x="856832" y="1819870"/>
            <a:ext cx="504683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4495E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1. Resume Analysis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56832" y="2228552"/>
            <a:ext cx="504683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resume structure, skills, education, projects, and experience.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95848" y="1700113"/>
            <a:ext cx="5428023" cy="1256209"/>
          </a:xfrm>
          <a:custGeom>
            <a:avLst/>
            <a:gdLst/>
            <a:ahLst/>
            <a:cxnLst/>
            <a:rect l="l" t="t" r="r" b="b"/>
            <a:pathLst>
              <a:path w="5428023" h="1256209">
                <a:moveTo>
                  <a:pt x="0" y="0"/>
                </a:moveTo>
                <a:lnTo>
                  <a:pt x="5404395" y="0"/>
                </a:lnTo>
                <a:arcTo wR="23627" hR="23628" stAng="16200000" swAng="5400000"/>
                <a:lnTo>
                  <a:pt x="5428023" y="1256209"/>
                </a:lnTo>
                <a:lnTo>
                  <a:pt x="0" y="1256209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6288029" y="1819870"/>
            <a:ext cx="504683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4495E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2. Job Match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288029" y="2228552"/>
            <a:ext cx="504683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 the candidate profile with selected job roles or descriptions.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7825" y="2956322"/>
            <a:ext cx="5428023" cy="95696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856832" y="3079254"/>
            <a:ext cx="504683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4495E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 Skill Gap Identification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56832" y="3487936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matching, missing, and weak skills.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095848" y="2956322"/>
            <a:ext cx="5428023" cy="95696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6288029" y="3079254"/>
            <a:ext cx="504683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4495E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4. Career Recommendations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288029" y="3487936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 suitable job roles, companies, and projects.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67825" y="3913287"/>
            <a:ext cx="5428023" cy="95696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Text 19"/>
          <p:cNvSpPr/>
          <p:nvPr/>
        </p:nvSpPr>
        <p:spPr>
          <a:xfrm>
            <a:off x="856832" y="4036219"/>
            <a:ext cx="504683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4495E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5. Mock Assessment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856832" y="4444901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 role-specific assessments.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095848" y="3913287"/>
            <a:ext cx="5428023" cy="95696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4" name="Text 22"/>
          <p:cNvSpPr/>
          <p:nvPr/>
        </p:nvSpPr>
        <p:spPr>
          <a:xfrm>
            <a:off x="6288029" y="4036219"/>
            <a:ext cx="504683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4495E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6. Skill Analytics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6288029" y="4444901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improvement across assessment attempts.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67825" y="4870252"/>
            <a:ext cx="5428023" cy="1256209"/>
          </a:xfrm>
          <a:custGeom>
            <a:avLst/>
            <a:gdLst/>
            <a:ahLst/>
            <a:cxnLst/>
            <a:rect l="l" t="t" r="r" b="b"/>
            <a:pathLst>
              <a:path w="5428023" h="1256209">
                <a:moveTo>
                  <a:pt x="0" y="0"/>
                </a:moveTo>
                <a:lnTo>
                  <a:pt x="5428023" y="0"/>
                </a:lnTo>
                <a:lnTo>
                  <a:pt x="5428023" y="1256209"/>
                </a:lnTo>
                <a:lnTo>
                  <a:pt x="23627" y="1256209"/>
                </a:lnTo>
                <a:arcTo wR="23627" hR="23628" stAng="5400000" swAng="5400000"/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7" name="Text 25"/>
          <p:cNvSpPr/>
          <p:nvPr/>
        </p:nvSpPr>
        <p:spPr>
          <a:xfrm>
            <a:off x="856832" y="4993184"/>
            <a:ext cx="504683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4495E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7. Personalized Roadmap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856832" y="5401866"/>
            <a:ext cx="504683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 a learning roadmap based on performance and gaps.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095848" y="4870252"/>
            <a:ext cx="5428023" cy="1256209"/>
          </a:xfrm>
          <a:custGeom>
            <a:avLst/>
            <a:gdLst/>
            <a:ahLst/>
            <a:cxnLst/>
            <a:rect l="l" t="t" r="r" b="b"/>
            <a:pathLst>
              <a:path w="5428023" h="1256209">
                <a:moveTo>
                  <a:pt x="0" y="0"/>
                </a:moveTo>
                <a:lnTo>
                  <a:pt x="5428023" y="0"/>
                </a:lnTo>
                <a:lnTo>
                  <a:pt x="5428023" y="1232581"/>
                </a:lnTo>
                <a:arcTo wR="23627" hR="23628" stAng="0" swAng="5400000"/>
                <a:lnTo>
                  <a:pt x="0" y="1256209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0" name="Text 28"/>
          <p:cNvSpPr/>
          <p:nvPr/>
        </p:nvSpPr>
        <p:spPr>
          <a:xfrm>
            <a:off x="6288029" y="4993184"/>
            <a:ext cx="504683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4495E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8. Readiness Score</a:t>
            </a:r>
            <a:endParaRPr lang="en-US" sz="1850" dirty="0"/>
          </a:p>
        </p:txBody>
      </p:sp>
      <p:sp>
        <p:nvSpPr>
          <p:cNvPr id="31" name="Text 29"/>
          <p:cNvSpPr/>
          <p:nvPr/>
        </p:nvSpPr>
        <p:spPr>
          <a:xfrm>
            <a:off x="6288029" y="5401866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a job-specific employability score.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8169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317625"/>
            <a:ext cx="1086874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Five foundational papers shaped this work, which extends prior systems with ATS scoring, job matching, skill-gap analysis, project recommendations, and skill improvement tracking.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1903214"/>
            <a:ext cx="10868745" cy="3467497"/>
          </a:xfrm>
          <a:prstGeom prst="roundRect">
            <a:avLst>
              <a:gd name="adj" fmla="val 66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297708"/>
            <a:ext cx="10868745" cy="95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2911673"/>
            <a:ext cx="10868745" cy="95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525639"/>
            <a:ext cx="10868745" cy="95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139605"/>
            <a:ext cx="10868745" cy="95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753570"/>
            <a:ext cx="10868745" cy="95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924" y="1909564"/>
            <a:ext cx="3799586" cy="388144"/>
          </a:xfrm>
          <a:custGeom>
            <a:avLst/>
            <a:gdLst/>
            <a:ahLst/>
            <a:cxnLst/>
            <a:rect l="l" t="t" r="r" b="b"/>
            <a:pathLst>
              <a:path w="3799586" h="388144">
                <a:moveTo>
                  <a:pt x="19197" y="0"/>
                </a:moveTo>
                <a:lnTo>
                  <a:pt x="3799586" y="0"/>
                </a:lnTo>
                <a:lnTo>
                  <a:pt x="3799586" y="388144"/>
                </a:lnTo>
                <a:lnTo>
                  <a:pt x="0" y="388144"/>
                </a:lnTo>
                <a:lnTo>
                  <a:pt x="0" y="19198"/>
                </a:lnTo>
                <a:arcTo wR="19197" hR="19198" stAng="10800000" swAng="5400000"/>
                <a:close/>
              </a:path>
            </a:pathLst>
          </a:custGeom>
          <a:solidFill>
            <a:srgbClr val="E8EEF5"/>
          </a:solidFill>
          <a:ln/>
        </p:spPr>
      </p:sp>
      <p:sp>
        <p:nvSpPr>
          <p:cNvPr id="11" name="Text 9"/>
          <p:cNvSpPr/>
          <p:nvPr/>
        </p:nvSpPr>
        <p:spPr>
          <a:xfrm>
            <a:off x="821411" y="1990725"/>
            <a:ext cx="4102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Paper Title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67510" y="1909564"/>
            <a:ext cx="3799586" cy="388144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13" name="Text 11"/>
          <p:cNvSpPr/>
          <p:nvPr/>
        </p:nvSpPr>
        <p:spPr>
          <a:xfrm>
            <a:off x="4620998" y="1990725"/>
            <a:ext cx="4102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Main Contribution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67096" y="1909564"/>
            <a:ext cx="3256774" cy="388144"/>
          </a:xfrm>
          <a:custGeom>
            <a:avLst/>
            <a:gdLst/>
            <a:ahLst/>
            <a:cxnLst/>
            <a:rect l="l" t="t" r="r" b="b"/>
            <a:pathLst>
              <a:path w="3256774" h="388144">
                <a:moveTo>
                  <a:pt x="0" y="0"/>
                </a:moveTo>
                <a:lnTo>
                  <a:pt x="3237577" y="0"/>
                </a:lnTo>
                <a:arcTo wR="19197" hR="19198" stAng="16200000" swAng="5400000"/>
                <a:lnTo>
                  <a:pt x="3256774" y="388144"/>
                </a:lnTo>
                <a:lnTo>
                  <a:pt x="0" y="388144"/>
                </a:lnTo>
                <a:lnTo>
                  <a:pt x="0" y="0"/>
                </a:lnTo>
                <a:close/>
              </a:path>
            </a:pathLst>
          </a:custGeom>
          <a:solidFill>
            <a:srgbClr val="E8EEF5"/>
          </a:solidFill>
          <a:ln/>
        </p:spPr>
      </p:sp>
      <p:sp>
        <p:nvSpPr>
          <p:cNvPr id="15" name="Text 13"/>
          <p:cNvSpPr/>
          <p:nvPr/>
        </p:nvSpPr>
        <p:spPr>
          <a:xfrm>
            <a:off x="8420584" y="1990725"/>
            <a:ext cx="355938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1411" y="2382044"/>
            <a:ext cx="349261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Intelligent Resume Analysis and Job Recommendation System Using NLP </a:t>
            </a:r>
            <a:r>
              <a:rPr lang="en-US" sz="12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(2026)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20998" y="2382044"/>
            <a:ext cx="4102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 parsing and job recommendation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20584" y="2382044"/>
            <a:ext cx="355938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competency validation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1411" y="2996009"/>
            <a:ext cx="349261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Job Description Parsing with Explainable Transformer Models </a:t>
            </a:r>
            <a:r>
              <a:rPr lang="en-US" sz="12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(2024)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20998" y="2996009"/>
            <a:ext cx="4102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JD parsing and skill extraction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20584" y="2996009"/>
            <a:ext cx="355938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JD-focused only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1411" y="3609975"/>
            <a:ext cx="349261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Smart-Hiring: End-to-End CV Information Extraction and Job Matching </a:t>
            </a:r>
            <a:r>
              <a:rPr lang="en-US" sz="12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(2025)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20998" y="3609975"/>
            <a:ext cx="4102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CV extraction and job matching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20584" y="3609975"/>
            <a:ext cx="355938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personalized skill-development cycle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1411" y="4223941"/>
            <a:ext cx="349261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AI-Powered Semantic Resume &amp; Skill-Gap Analyzer </a:t>
            </a:r>
            <a:r>
              <a:rPr lang="en-US" sz="12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(2025)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20998" y="4223941"/>
            <a:ext cx="4102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Semantic matching and skill-gap detection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20584" y="4223941"/>
            <a:ext cx="355938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progress tracking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1411" y="4837906"/>
            <a:ext cx="349261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 Analysis Using NLP and ATS Algorithm </a:t>
            </a:r>
            <a:r>
              <a:rPr lang="en-US" sz="12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(2025)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20998" y="4837906"/>
            <a:ext cx="4102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ATS scoring and resume evaluation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20584" y="4837906"/>
            <a:ext cx="355938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assessment-driven roadmap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1475" y="5511006"/>
            <a:ext cx="10868745" cy="758825"/>
          </a:xfrm>
          <a:prstGeom prst="roundRect">
            <a:avLst>
              <a:gd name="adj" fmla="val 3036"/>
            </a:avLst>
          </a:prstGeom>
          <a:solidFill>
            <a:srgbClr val="D7D6F5"/>
          </a:solidFill>
          <a:ln/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62" y="5692080"/>
            <a:ext cx="191884" cy="153491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160334" y="5674023"/>
            <a:ext cx="10216398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Research Gap: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Existing systems address resume analysis, job matching, or skill-gap detection separately. An integrated cycle for assessment, tracking, and personalized career development remains limited.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6537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Summary of Literature Survey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629767"/>
            <a:ext cx="522542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Existing Research Coverage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61475" y="2071985"/>
            <a:ext cx="5225423" cy="3625652"/>
          </a:xfrm>
          <a:prstGeom prst="roundRect">
            <a:avLst>
              <a:gd name="adj" fmla="val 70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541588"/>
            <a:ext cx="5225423" cy="1070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4192588"/>
            <a:ext cx="5225423" cy="1070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4659015"/>
            <a:ext cx="5225423" cy="1070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7825" y="2078335"/>
            <a:ext cx="5212723" cy="463252"/>
          </a:xfrm>
          <a:custGeom>
            <a:avLst/>
            <a:gdLst/>
            <a:ahLst/>
            <a:cxnLst/>
            <a:rect l="l" t="t" r="r" b="b"/>
            <a:pathLst>
              <a:path w="5212723" h="463252">
                <a:moveTo>
                  <a:pt x="21412" y="0"/>
                </a:moveTo>
                <a:lnTo>
                  <a:pt x="5191311" y="0"/>
                </a:lnTo>
                <a:arcTo wR="21412" hR="21413" stAng="16200000" swAng="5400000"/>
                <a:lnTo>
                  <a:pt x="5212723" y="463252"/>
                </a:lnTo>
                <a:lnTo>
                  <a:pt x="0" y="463252"/>
                </a:lnTo>
                <a:lnTo>
                  <a:pt x="0" y="21413"/>
                </a:lnTo>
                <a:arcTo wR="21412" hR="21413" stAng="10800000" swAng="5400000"/>
                <a:close/>
              </a:path>
            </a:pathLst>
          </a:custGeom>
          <a:solidFill>
            <a:srgbClr val="E8EEF5"/>
          </a:solidFill>
          <a:ln/>
        </p:spPr>
      </p:sp>
      <p:sp>
        <p:nvSpPr>
          <p:cNvPr id="9" name="Text 7"/>
          <p:cNvSpPr/>
          <p:nvPr/>
        </p:nvSpPr>
        <p:spPr>
          <a:xfrm>
            <a:off x="839072" y="2177752"/>
            <a:ext cx="547981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Most approaches focus on: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9072" y="2644180"/>
            <a:ext cx="4870229" cy="1492349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 processing and parsing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Job description analysis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Resume–job matching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 gap identification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Recommendation systems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7825" y="4192588"/>
            <a:ext cx="5212723" cy="466427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12" name="Text 10"/>
          <p:cNvSpPr/>
          <p:nvPr/>
        </p:nvSpPr>
        <p:spPr>
          <a:xfrm>
            <a:off x="839072" y="4295180"/>
            <a:ext cx="547981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9072" y="4761607"/>
            <a:ext cx="4870229" cy="876796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integrated assessment pipeline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personalized development tracking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Few systems connect analysis to actionable improvement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11147" y="1629767"/>
            <a:ext cx="522542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Our Proposed Contribution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311147" y="2071985"/>
            <a:ext cx="5225423" cy="3625652"/>
          </a:xfrm>
          <a:prstGeom prst="roundRect">
            <a:avLst>
              <a:gd name="adj" fmla="val 70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11147" y="2541588"/>
            <a:ext cx="5225423" cy="1070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311147" y="4192588"/>
            <a:ext cx="5225423" cy="1070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311147" y="4659015"/>
            <a:ext cx="5225423" cy="1070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317497" y="2078335"/>
            <a:ext cx="5212723" cy="463252"/>
          </a:xfrm>
          <a:custGeom>
            <a:avLst/>
            <a:gdLst/>
            <a:ahLst/>
            <a:cxnLst/>
            <a:rect l="l" t="t" r="r" b="b"/>
            <a:pathLst>
              <a:path w="5212723" h="463252">
                <a:moveTo>
                  <a:pt x="21412" y="0"/>
                </a:moveTo>
                <a:lnTo>
                  <a:pt x="5191311" y="0"/>
                </a:lnTo>
                <a:arcTo wR="21412" hR="21413" stAng="16200000" swAng="5400000"/>
                <a:lnTo>
                  <a:pt x="5212723" y="463252"/>
                </a:lnTo>
                <a:lnTo>
                  <a:pt x="0" y="463252"/>
                </a:lnTo>
                <a:lnTo>
                  <a:pt x="0" y="21413"/>
                </a:lnTo>
                <a:arcTo wR="21412" hR="21413" stAng="10800000" swAng="5400000"/>
                <a:close/>
              </a:path>
            </a:pathLst>
          </a:custGeom>
          <a:solidFill>
            <a:srgbClr val="E8EEF5"/>
          </a:solidFill>
          <a:ln/>
        </p:spPr>
      </p:sp>
      <p:sp>
        <p:nvSpPr>
          <p:cNvPr id="20" name="Text 18"/>
          <p:cNvSpPr/>
          <p:nvPr/>
        </p:nvSpPr>
        <p:spPr>
          <a:xfrm>
            <a:off x="6488744" y="2177752"/>
            <a:ext cx="547981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Integrated workflow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88744" y="2644180"/>
            <a:ext cx="4870229" cy="1492349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 processing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Job description analysis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Resume–job matching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 gap analysis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Assessment-driven recommendations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17497" y="4192588"/>
            <a:ext cx="5212723" cy="466427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23" name="Text 21"/>
          <p:cNvSpPr/>
          <p:nvPr/>
        </p:nvSpPr>
        <p:spPr>
          <a:xfrm>
            <a:off x="6488744" y="4295180"/>
            <a:ext cx="547981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Additional value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88744" y="4761607"/>
            <a:ext cx="4870229" cy="876796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Readiness scoring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recommendations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 analytics for improvement tracking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1475" y="6089650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9495A">
              <a:alpha val="5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742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Existing System vs Proposed System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61475" y="1488480"/>
            <a:ext cx="10868745" cy="3210322"/>
          </a:xfrm>
          <a:prstGeom prst="roundRect">
            <a:avLst>
              <a:gd name="adj" fmla="val 86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1475" y="2025650"/>
            <a:ext cx="10868745" cy="1162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559645"/>
            <a:ext cx="10868745" cy="1162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093641"/>
            <a:ext cx="10868745" cy="1162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627636"/>
            <a:ext cx="10868745" cy="1162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161631"/>
            <a:ext cx="10868745" cy="1162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1488480"/>
            <a:ext cx="11629" cy="32103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825" y="1494830"/>
            <a:ext cx="5428023" cy="530820"/>
          </a:xfrm>
          <a:custGeom>
            <a:avLst/>
            <a:gdLst/>
            <a:ahLst/>
            <a:cxnLst/>
            <a:rect l="l" t="t" r="r" b="b"/>
            <a:pathLst>
              <a:path w="5428023" h="530820">
                <a:moveTo>
                  <a:pt x="23258" y="0"/>
                </a:moveTo>
                <a:lnTo>
                  <a:pt x="5428023" y="0"/>
                </a:lnTo>
                <a:lnTo>
                  <a:pt x="5428023" y="530820"/>
                </a:lnTo>
                <a:lnTo>
                  <a:pt x="0" y="530820"/>
                </a:lnTo>
                <a:lnTo>
                  <a:pt x="0" y="23259"/>
                </a:lnTo>
                <a:arcTo wR="23258" hR="23259" stAng="10800000" swAng="5400000"/>
                <a:close/>
              </a:path>
            </a:pathLst>
          </a:custGeom>
          <a:solidFill>
            <a:srgbClr val="E8EEF5"/>
          </a:solidFill>
          <a:ln/>
        </p:spPr>
      </p:sp>
      <p:sp>
        <p:nvSpPr>
          <p:cNvPr id="11" name="Text 9"/>
          <p:cNvSpPr/>
          <p:nvPr/>
        </p:nvSpPr>
        <p:spPr>
          <a:xfrm>
            <a:off x="853855" y="1611015"/>
            <a:ext cx="56623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Existing Systems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95848" y="1494830"/>
            <a:ext cx="5428023" cy="530820"/>
          </a:xfrm>
          <a:custGeom>
            <a:avLst/>
            <a:gdLst/>
            <a:ahLst/>
            <a:cxnLst/>
            <a:rect l="l" t="t" r="r" b="b"/>
            <a:pathLst>
              <a:path w="5428023" h="530820">
                <a:moveTo>
                  <a:pt x="0" y="0"/>
                </a:moveTo>
                <a:lnTo>
                  <a:pt x="5404765" y="0"/>
                </a:lnTo>
                <a:arcTo wR="23258" hR="23259" stAng="16200000" swAng="5400000"/>
                <a:lnTo>
                  <a:pt x="5428023" y="530820"/>
                </a:lnTo>
                <a:lnTo>
                  <a:pt x="0" y="530820"/>
                </a:lnTo>
                <a:lnTo>
                  <a:pt x="0" y="0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3" name="Text 11"/>
          <p:cNvSpPr/>
          <p:nvPr/>
        </p:nvSpPr>
        <p:spPr>
          <a:xfrm>
            <a:off x="6285053" y="1611015"/>
            <a:ext cx="56623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Career Compass AI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53855" y="2145010"/>
            <a:ext cx="56623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Resume-based analysis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85053" y="2145010"/>
            <a:ext cx="56623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 + job requirements analysis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53855" y="2679005"/>
            <a:ext cx="56623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Keyword matching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285053" y="2679005"/>
            <a:ext cx="56623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Semantic matching and scoring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3855" y="3213001"/>
            <a:ext cx="56623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Generic recommendations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85053" y="3213001"/>
            <a:ext cx="56623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Role-specific recommendations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53855" y="3746996"/>
            <a:ext cx="56623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skill progress tracking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285053" y="3746996"/>
            <a:ext cx="56623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 improvement analytics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53855" y="4280991"/>
            <a:ext cx="56623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practical validation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285053" y="4280991"/>
            <a:ext cx="56623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mock assessment and roadmap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27533" y="4904780"/>
            <a:ext cx="5475349" cy="1412379"/>
          </a:xfrm>
          <a:prstGeom prst="roundRect">
            <a:avLst>
              <a:gd name="adj" fmla="val 1976"/>
            </a:avLst>
          </a:prstGeom>
          <a:solidFill>
            <a:srgbClr val="E8EEF5"/>
          </a:solidFill>
          <a:ln/>
        </p:spPr>
      </p:sp>
      <p:sp>
        <p:nvSpPr>
          <p:cNvPr id="25" name="Text 23"/>
          <p:cNvSpPr/>
          <p:nvPr/>
        </p:nvSpPr>
        <p:spPr>
          <a:xfrm>
            <a:off x="713563" y="5087938"/>
            <a:ext cx="5103288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Existing System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3563" y="5561806"/>
            <a:ext cx="571287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Evaluates candidates using </a:t>
            </a:r>
            <a:r>
              <a:rPr lang="en-US" sz="1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resume information only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329105" y="5087938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Proposed System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29105" y="5561806"/>
            <a:ext cx="52074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Evaluates candidates using </a:t>
            </a:r>
            <a:r>
              <a:rPr lang="en-US" sz="1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resume, job requirements, assessment results, and skill progress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555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Proposed 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238349"/>
            <a:ext cx="1086874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Vertical system flow showing how the platform moves from resume intake to role matching, project recommendations, assessment, analytics, and final readiness scoring.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771749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1475" y="1998563"/>
            <a:ext cx="3549065" cy="19050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108994"/>
            <a:ext cx="354906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/ Student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1475" y="2401491"/>
            <a:ext cx="354906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Uploads resume and enters the target job description.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21265" y="1771749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1265" y="1998563"/>
            <a:ext cx="3549065" cy="19050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10" name="Text 8"/>
          <p:cNvSpPr/>
          <p:nvPr/>
        </p:nvSpPr>
        <p:spPr>
          <a:xfrm>
            <a:off x="4321265" y="2108994"/>
            <a:ext cx="354906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Resume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21265" y="2401491"/>
            <a:ext cx="354906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Extracts ATS score, resume quality, and core profile strengths.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81056" y="1771749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81056" y="1998563"/>
            <a:ext cx="3549065" cy="19050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14" name="Text 12"/>
          <p:cNvSpPr/>
          <p:nvPr/>
        </p:nvSpPr>
        <p:spPr>
          <a:xfrm>
            <a:off x="7981056" y="2108994"/>
            <a:ext cx="354906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Resume vs Job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81056" y="2401491"/>
            <a:ext cx="354906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Compares matching skills and identifies missing skills.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1475" y="3029446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1475" y="3241774"/>
            <a:ext cx="3549065" cy="19050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3366691"/>
            <a:ext cx="354906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Job/Company Match &amp; Role Prediction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1475" y="3885208"/>
            <a:ext cx="3549065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Predicts the best-fit role and company match score.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21265" y="3029446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21265" y="3252589"/>
            <a:ext cx="3549065" cy="19050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22" name="Text 20"/>
          <p:cNvSpPr/>
          <p:nvPr/>
        </p:nvSpPr>
        <p:spPr>
          <a:xfrm>
            <a:off x="4321265" y="3366691"/>
            <a:ext cx="354906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Recommended Projects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21265" y="3659187"/>
            <a:ext cx="354906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Suggests skill-based projects to strengthen weak areas.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81056" y="3029446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81056" y="3252589"/>
            <a:ext cx="3549065" cy="19050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26" name="Text 24"/>
          <p:cNvSpPr/>
          <p:nvPr/>
        </p:nvSpPr>
        <p:spPr>
          <a:xfrm>
            <a:off x="7981056" y="3366691"/>
            <a:ext cx="354906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AI Mock Assessment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81056" y="3659187"/>
            <a:ext cx="354906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Evaluates role-specific skills through an adaptive assessment.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1475" y="4308773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07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1475" y="4506714"/>
            <a:ext cx="3549065" cy="19050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30" name="Text 28"/>
          <p:cNvSpPr/>
          <p:nvPr/>
        </p:nvSpPr>
        <p:spPr>
          <a:xfrm>
            <a:off x="661475" y="4646017"/>
            <a:ext cx="354906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Skill Performance &amp; Progress Analytics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1475" y="5164534"/>
            <a:ext cx="354906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Tracks performance trends and improvement over time.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21265" y="4308773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08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21265" y="4521101"/>
            <a:ext cx="3549065" cy="19050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34" name="Text 32"/>
          <p:cNvSpPr/>
          <p:nvPr/>
        </p:nvSpPr>
        <p:spPr>
          <a:xfrm>
            <a:off x="4321265" y="4646017"/>
            <a:ext cx="354906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Personalized Learning Roadmap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321265" y="4938514"/>
            <a:ext cx="354906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Generates priority-based learning actions and next steps.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81056" y="4308773"/>
            <a:ext cx="28941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09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981056" y="4521101"/>
            <a:ext cx="3549065" cy="19050"/>
          </a:xfrm>
          <a:prstGeom prst="rect">
            <a:avLst/>
          </a:prstGeom>
          <a:solidFill>
            <a:srgbClr val="5955EB"/>
          </a:solidFill>
          <a:ln/>
        </p:spPr>
      </p:sp>
      <p:sp>
        <p:nvSpPr>
          <p:cNvPr id="38" name="Text 36"/>
          <p:cNvSpPr/>
          <p:nvPr/>
        </p:nvSpPr>
        <p:spPr>
          <a:xfrm>
            <a:off x="7981056" y="4646017"/>
            <a:ext cx="354906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Job/Company Readiness Score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981056" y="4938514"/>
            <a:ext cx="354906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Outputs final readiness for the target job and company.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1475" y="5763022"/>
            <a:ext cx="10868745" cy="487065"/>
          </a:xfrm>
          <a:prstGeom prst="roundRect">
            <a:avLst>
              <a:gd name="adj" fmla="val 4457"/>
            </a:avLst>
          </a:prstGeom>
          <a:solidFill>
            <a:srgbClr val="D7D6F5"/>
          </a:solidFill>
          <a:ln/>
        </p:spPr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32" y="5922963"/>
            <a:ext cx="180871" cy="144661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131661" y="5953224"/>
            <a:ext cx="1086348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27AE6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Analytics loop: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skill analytics feeds back into the learning roadmap to continuously improve readiness.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2748"/>
            <a:ext cx="10868745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Modules of Career Compass AI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661475" y="1052909"/>
            <a:ext cx="5399250" cy="945852"/>
          </a:xfrm>
          <a:prstGeom prst="roundRect">
            <a:avLst>
              <a:gd name="adj" fmla="val 1827"/>
            </a:avLst>
          </a:prstGeom>
          <a:solidFill>
            <a:srgbClr val="EAE8F3"/>
          </a:solidFill>
          <a:ln/>
        </p:spPr>
      </p:sp>
      <p:sp>
        <p:nvSpPr>
          <p:cNvPr id="4" name="Text 2"/>
          <p:cNvSpPr/>
          <p:nvPr/>
        </p:nvSpPr>
        <p:spPr>
          <a:xfrm>
            <a:off x="776566" y="1168003"/>
            <a:ext cx="516906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Module 1 — Resume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6566" y="1389955"/>
            <a:ext cx="5169068" cy="493713"/>
          </a:xfrm>
          <a:prstGeom prst="rect">
            <a:avLst/>
          </a:prstGeom>
          <a:noFill/>
          <a:ln/>
        </p:spPr>
        <p:txBody>
          <a:bodyPr wrap="square" lIns="0" tIns="46073" rIns="0" bIns="0" rtlCol="0" anchor="t">
            <a:norm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 parsing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ATS assessment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Quality scoring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130871" y="1052909"/>
            <a:ext cx="5399349" cy="945852"/>
          </a:xfrm>
          <a:prstGeom prst="roundRect">
            <a:avLst>
              <a:gd name="adj" fmla="val 1827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6245962" y="1168003"/>
            <a:ext cx="516916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Module 2 — Job Role / JD Analysis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45962" y="1389955"/>
            <a:ext cx="5169168" cy="493713"/>
          </a:xfrm>
          <a:prstGeom prst="rect">
            <a:avLst/>
          </a:prstGeom>
          <a:noFill/>
          <a:ln/>
        </p:spPr>
        <p:txBody>
          <a:bodyPr wrap="square" lIns="0" tIns="46073" rIns="0" bIns="0" rtlCol="0" anchor="t">
            <a:norm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Requirement extraction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 identification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Resume–JD match scoring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1475" y="2068909"/>
            <a:ext cx="5399250" cy="945852"/>
          </a:xfrm>
          <a:prstGeom prst="roundRect">
            <a:avLst>
              <a:gd name="adj" fmla="val 1827"/>
            </a:avLst>
          </a:prstGeom>
          <a:solidFill>
            <a:srgbClr val="EAE8F3"/>
          </a:solidFill>
          <a:ln/>
        </p:spPr>
      </p:sp>
      <p:sp>
        <p:nvSpPr>
          <p:cNvPr id="10" name="Text 8"/>
          <p:cNvSpPr/>
          <p:nvPr/>
        </p:nvSpPr>
        <p:spPr>
          <a:xfrm>
            <a:off x="776566" y="2184003"/>
            <a:ext cx="516906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Module 3 — Skill Gap &amp; Recommendation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6566" y="2405955"/>
            <a:ext cx="5169068" cy="493713"/>
          </a:xfrm>
          <a:prstGeom prst="rect">
            <a:avLst/>
          </a:prstGeom>
          <a:noFill/>
          <a:ln/>
        </p:spPr>
        <p:txBody>
          <a:bodyPr wrap="square" lIns="0" tIns="46073" rIns="0" bIns="0" rtlCol="0" anchor="t">
            <a:norm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 gap detection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Job role prediction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recommendations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30871" y="2068909"/>
            <a:ext cx="5399349" cy="945852"/>
          </a:xfrm>
          <a:prstGeom prst="roundRect">
            <a:avLst>
              <a:gd name="adj" fmla="val 1827"/>
            </a:avLst>
          </a:prstGeom>
          <a:solidFill>
            <a:srgbClr val="EAE8F3"/>
          </a:solidFill>
          <a:ln/>
        </p:spPr>
      </p:sp>
      <p:sp>
        <p:nvSpPr>
          <p:cNvPr id="13" name="Text 11"/>
          <p:cNvSpPr/>
          <p:nvPr/>
        </p:nvSpPr>
        <p:spPr>
          <a:xfrm>
            <a:off x="6245962" y="2184003"/>
            <a:ext cx="516916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Module 4 — AI Mock Assessment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45962" y="2405955"/>
            <a:ext cx="5169168" cy="493713"/>
          </a:xfrm>
          <a:prstGeom prst="rect">
            <a:avLst/>
          </a:prstGeom>
          <a:noFill/>
          <a:ln/>
        </p:spPr>
        <p:txBody>
          <a:bodyPr wrap="square" lIns="0" tIns="46073" rIns="0" bIns="0" rtlCol="0" anchor="t">
            <a:norm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Role-specific questions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 evaluation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Feedback scoring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1475" y="3084909"/>
            <a:ext cx="5399250" cy="945852"/>
          </a:xfrm>
          <a:prstGeom prst="roundRect">
            <a:avLst>
              <a:gd name="adj" fmla="val 1827"/>
            </a:avLst>
          </a:prstGeom>
          <a:solidFill>
            <a:srgbClr val="EAE8F3"/>
          </a:solidFill>
          <a:ln/>
        </p:spPr>
      </p:sp>
      <p:sp>
        <p:nvSpPr>
          <p:cNvPr id="16" name="Text 14"/>
          <p:cNvSpPr/>
          <p:nvPr/>
        </p:nvSpPr>
        <p:spPr>
          <a:xfrm>
            <a:off x="776566" y="3200003"/>
            <a:ext cx="516906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Module 5 — Skill Analytics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6566" y="3421955"/>
            <a:ext cx="5169068" cy="493713"/>
          </a:xfrm>
          <a:prstGeom prst="rect">
            <a:avLst/>
          </a:prstGeom>
          <a:noFill/>
          <a:ln/>
        </p:spPr>
        <p:txBody>
          <a:bodyPr wrap="square" lIns="0" tIns="46073" rIns="0" bIns="0" rtlCol="0" anchor="t">
            <a:norm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tracking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Score comparison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Progress trends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30871" y="3084909"/>
            <a:ext cx="5399349" cy="945852"/>
          </a:xfrm>
          <a:prstGeom prst="roundRect">
            <a:avLst>
              <a:gd name="adj" fmla="val 1827"/>
            </a:avLst>
          </a:prstGeom>
          <a:solidFill>
            <a:srgbClr val="EAE8F3"/>
          </a:solidFill>
          <a:ln/>
        </p:spPr>
      </p:sp>
      <p:sp>
        <p:nvSpPr>
          <p:cNvPr id="19" name="Text 17"/>
          <p:cNvSpPr/>
          <p:nvPr/>
        </p:nvSpPr>
        <p:spPr>
          <a:xfrm>
            <a:off x="6245962" y="3200003"/>
            <a:ext cx="516916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Module 6 — Personalized Roadmap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45962" y="3421955"/>
            <a:ext cx="5169168" cy="493713"/>
          </a:xfrm>
          <a:prstGeom prst="rect">
            <a:avLst/>
          </a:prstGeom>
          <a:noFill/>
          <a:ln/>
        </p:spPr>
        <p:txBody>
          <a:bodyPr wrap="square" lIns="0" tIns="46073" rIns="0" bIns="0" rtlCol="0" anchor="t">
            <a:norm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 development plan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Learning resources</a:t>
            </a:r>
            <a:endParaRPr lang="en-US" sz="900" dirty="0"/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Milestone tracking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1475" y="4136033"/>
            <a:ext cx="1086874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Module 7 — Company &amp; Career Readiness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1475" y="4484291"/>
            <a:ext cx="590346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Company Readiness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1475" y="4711402"/>
            <a:ext cx="5293882" cy="1514872"/>
          </a:xfrm>
          <a:prstGeom prst="roundRect">
            <a:avLst>
              <a:gd name="adj" fmla="val 1141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1475" y="4965998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61475" y="5217418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61475" y="5468838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61475" y="5720259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61475" y="5971679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67924" y="4717752"/>
            <a:ext cx="3168670" cy="248245"/>
          </a:xfrm>
          <a:custGeom>
            <a:avLst/>
            <a:gdLst/>
            <a:ahLst/>
            <a:cxnLst/>
            <a:rect l="l" t="t" r="r" b="b"/>
            <a:pathLst>
              <a:path w="3168670" h="248245">
                <a:moveTo>
                  <a:pt x="14398" y="0"/>
                </a:moveTo>
                <a:lnTo>
                  <a:pt x="3168670" y="0"/>
                </a:lnTo>
                <a:lnTo>
                  <a:pt x="3168670" y="248245"/>
                </a:lnTo>
                <a:lnTo>
                  <a:pt x="0" y="248245"/>
                </a:lnTo>
                <a:lnTo>
                  <a:pt x="0" y="14398"/>
                </a:lnTo>
                <a:arcTo wR="14398" hR="14398" stAng="10800000" swAng="5400000"/>
                <a:close/>
              </a:path>
            </a:pathLst>
          </a:custGeom>
          <a:solidFill>
            <a:srgbClr val="E8EEF5"/>
          </a:solidFill>
          <a:ln/>
        </p:spPr>
      </p:sp>
      <p:sp>
        <p:nvSpPr>
          <p:cNvPr id="30" name="Text 28"/>
          <p:cNvSpPr/>
          <p:nvPr/>
        </p:nvSpPr>
        <p:spPr>
          <a:xfrm>
            <a:off x="783015" y="4766171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Company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36594" y="4717752"/>
            <a:ext cx="2112414" cy="248245"/>
          </a:xfrm>
          <a:custGeom>
            <a:avLst/>
            <a:gdLst/>
            <a:ahLst/>
            <a:cxnLst/>
            <a:rect l="l" t="t" r="r" b="b"/>
            <a:pathLst>
              <a:path w="2112414" h="248245">
                <a:moveTo>
                  <a:pt x="0" y="0"/>
                </a:moveTo>
                <a:lnTo>
                  <a:pt x="2098016" y="0"/>
                </a:lnTo>
                <a:arcTo wR="14398" hR="14398" stAng="16200000" swAng="5400000"/>
                <a:lnTo>
                  <a:pt x="2112414" y="248245"/>
                </a:lnTo>
                <a:lnTo>
                  <a:pt x="0" y="248245"/>
                </a:lnTo>
                <a:lnTo>
                  <a:pt x="0" y="0"/>
                </a:lnTo>
                <a:close/>
              </a:path>
            </a:pathLst>
          </a:custGeom>
          <a:solidFill>
            <a:srgbClr val="E8EEF5"/>
          </a:solidFill>
          <a:ln/>
        </p:spPr>
      </p:sp>
      <p:sp>
        <p:nvSpPr>
          <p:cNvPr id="32" name="Text 30"/>
          <p:cNvSpPr/>
          <p:nvPr/>
        </p:nvSpPr>
        <p:spPr>
          <a:xfrm>
            <a:off x="3951685" y="4766171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Score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3015" y="5017591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Infosys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951685" y="5017591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91%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3015" y="5269012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TCS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51685" y="5269012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89%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83015" y="5520432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Zoho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951685" y="5520432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F39C12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72%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83015" y="5771852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Amazon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951685" y="5771852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F39C12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58%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83015" y="6023273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Google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951685" y="6023273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E74C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41%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42688" y="4484291"/>
            <a:ext cx="590346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Job Role Suitability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42688" y="4711402"/>
            <a:ext cx="5293882" cy="1263452"/>
          </a:xfrm>
          <a:prstGeom prst="roundRect">
            <a:avLst>
              <a:gd name="adj" fmla="val 1367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42688" y="4965998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42688" y="5217418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42688" y="5468838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42688" y="5720259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249137" y="4717752"/>
            <a:ext cx="3168670" cy="248245"/>
          </a:xfrm>
          <a:custGeom>
            <a:avLst/>
            <a:gdLst/>
            <a:ahLst/>
            <a:cxnLst/>
            <a:rect l="l" t="t" r="r" b="b"/>
            <a:pathLst>
              <a:path w="3168670" h="248245">
                <a:moveTo>
                  <a:pt x="14398" y="0"/>
                </a:moveTo>
                <a:lnTo>
                  <a:pt x="3168670" y="0"/>
                </a:lnTo>
                <a:lnTo>
                  <a:pt x="3168670" y="248245"/>
                </a:lnTo>
                <a:lnTo>
                  <a:pt x="0" y="248245"/>
                </a:lnTo>
                <a:lnTo>
                  <a:pt x="0" y="14398"/>
                </a:lnTo>
                <a:arcTo wR="14398" hR="14398" stAng="10800000" swAng="5400000"/>
                <a:close/>
              </a:path>
            </a:pathLst>
          </a:custGeom>
          <a:solidFill>
            <a:srgbClr val="E8EEF5"/>
          </a:solidFill>
          <a:ln/>
        </p:spPr>
      </p:sp>
      <p:sp>
        <p:nvSpPr>
          <p:cNvPr id="50" name="Text 48"/>
          <p:cNvSpPr/>
          <p:nvPr/>
        </p:nvSpPr>
        <p:spPr>
          <a:xfrm>
            <a:off x="6364228" y="4766171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Job Role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417807" y="4717752"/>
            <a:ext cx="2112414" cy="248245"/>
          </a:xfrm>
          <a:custGeom>
            <a:avLst/>
            <a:gdLst/>
            <a:ahLst/>
            <a:cxnLst/>
            <a:rect l="l" t="t" r="r" b="b"/>
            <a:pathLst>
              <a:path w="2112414" h="248245">
                <a:moveTo>
                  <a:pt x="0" y="0"/>
                </a:moveTo>
                <a:lnTo>
                  <a:pt x="2098016" y="0"/>
                </a:lnTo>
                <a:arcTo wR="14398" hR="14398" stAng="16200000" swAng="5400000"/>
                <a:lnTo>
                  <a:pt x="2112414" y="248245"/>
                </a:lnTo>
                <a:lnTo>
                  <a:pt x="0" y="248245"/>
                </a:lnTo>
                <a:lnTo>
                  <a:pt x="0" y="0"/>
                </a:lnTo>
                <a:close/>
              </a:path>
            </a:pathLst>
          </a:custGeom>
          <a:solidFill>
            <a:srgbClr val="E8EEF5"/>
          </a:solidFill>
          <a:ln/>
        </p:spPr>
      </p:sp>
      <p:sp>
        <p:nvSpPr>
          <p:cNvPr id="52" name="Text 50"/>
          <p:cNvSpPr/>
          <p:nvPr/>
        </p:nvSpPr>
        <p:spPr>
          <a:xfrm>
            <a:off x="9532897" y="4766171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Suitability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364228" y="5017591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Backend Developer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532897" y="5017591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92%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64228" y="5269012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Java Developer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532897" y="5269012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88%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364228" y="5520432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Stack Developer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532897" y="5520432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81%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364228" y="5771852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Engineer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532897" y="5771852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F39C12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60%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Saravanan K</cp:lastModifiedBy>
  <cp:revision>2</cp:revision>
  <dcterms:created xsi:type="dcterms:W3CDTF">2026-08-19T19:23:55Z</dcterms:created>
  <dcterms:modified xsi:type="dcterms:W3CDTF">2026-08-21T03:39:12Z</dcterms:modified>
</cp:coreProperties>
</file>